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73" r:id="rId3"/>
    <p:sldId id="380" r:id="rId4"/>
    <p:sldId id="381" r:id="rId5"/>
    <p:sldId id="383" r:id="rId6"/>
    <p:sldId id="384" r:id="rId7"/>
    <p:sldId id="386" r:id="rId8"/>
    <p:sldId id="388" r:id="rId9"/>
    <p:sldId id="390" r:id="rId10"/>
    <p:sldId id="448" r:id="rId11"/>
    <p:sldId id="392" r:id="rId12"/>
    <p:sldId id="394" r:id="rId13"/>
    <p:sldId id="396" r:id="rId14"/>
    <p:sldId id="398" r:id="rId15"/>
    <p:sldId id="400" r:id="rId16"/>
    <p:sldId id="402" r:id="rId17"/>
    <p:sldId id="449" r:id="rId18"/>
    <p:sldId id="404" r:id="rId19"/>
    <p:sldId id="406" r:id="rId20"/>
    <p:sldId id="408" r:id="rId21"/>
    <p:sldId id="410" r:id="rId22"/>
    <p:sldId id="412" r:id="rId23"/>
    <p:sldId id="414" r:id="rId24"/>
    <p:sldId id="450" r:id="rId25"/>
    <p:sldId id="416" r:id="rId26"/>
    <p:sldId id="418" r:id="rId27"/>
    <p:sldId id="420" r:id="rId28"/>
    <p:sldId id="451" r:id="rId29"/>
    <p:sldId id="422" r:id="rId30"/>
    <p:sldId id="45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3A8A"/>
    <a:srgbClr val="4B556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1974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D9404FE-4B71-F7A9-704E-5726AD9EB8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30471-C66C-8A6D-9378-176C0350B3E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3655C-A864-48A0-8B4E-68046A255D0A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2C36B-7612-49FC-CB1F-80639BA39D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3AACC-88DD-C5AE-0E66-4929EE9658D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82D39B-B437-40BB-A9F7-8D1F6F378F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232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1A320-692A-4EED-9C17-0ADC1CE2C7AD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478C1B-D76C-45BE-A104-183666D5AF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26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45AB1-2D2F-58C0-D49C-E5B97F273F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503" y="1122363"/>
            <a:ext cx="12030891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E9DCEB-9C0B-F153-59D2-814AD9D49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503" y="3602037"/>
            <a:ext cx="12030891" cy="264854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B52EF7-D597-98F6-6E6A-99452AE1F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1E5F8-7DC4-CF27-59D3-94FBFEB11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197D9-8480-A961-C20B-955521659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60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DA9C-E738-FFAD-7077-8990A687F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D96BD-36B9-3385-F7BB-7A4DC98BF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06EF7-C49F-72C2-5E8D-6A772F9E7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8D0D6-3CD3-9E14-D9DD-DD755F3D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9A199-2126-3CB7-051B-40DD1C9F9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61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2A32C-BDBC-0DFB-CA16-6682C5652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14950-31A2-BB02-6027-8BA66E92B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21362-3413-6BAA-A70E-7FDD56F0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E05CB-CC87-AD54-F863-9F423A2C0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6A30B-ABA0-AC87-5CAA-B768FC4E1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3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D20B0-6234-CC9B-240C-2F43610B9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313B8-21ED-A723-F660-9D12A046E7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17474-29E6-4F3A-74E5-4F02DA90B1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30231-4F9C-9406-5999-AD1A68296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65C78-2AD3-3135-27EF-B69EB605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F644D-844A-2932-4D7F-B122B0BB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85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DD6F-2DF3-F06A-F9B5-69B6FF6E8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FF9F6-BC75-CDB8-84FA-79F4C02E5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3E3E7-6871-EC80-7DA9-6C849C3F1E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2B181-A779-2FCD-01DE-E27005C120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302A9B-89B1-6F40-8F8C-7E8532444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805FD-64DA-F463-C30A-0C26484E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C605C-5D5E-6C91-03BD-3290A7AEB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55BA1B-8A46-AB17-E62A-C27533DD9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67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8577A-BAEB-1FEA-C87F-557E7FBDB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D45876-8708-497B-75D7-598F5A81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69504-CDAB-FC27-9DD3-EFD731E9E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6726A-7A7E-913D-3B40-A5A06988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31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3F11A8-C186-AC04-169F-351842384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6BD298-3C73-5D08-F944-4F352D756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5B7E2-482D-27DB-A291-FC3BF7BE6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7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F7FC0-F43A-4D3A-5A9D-750933A16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7819-2713-8527-3DD5-55EE425357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147D3-A524-DEAE-906E-692E4DC6F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456C9D-BA06-FEA1-9700-162E3AF5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59EA70-C65C-D852-0FC9-6E9DF86A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6E327C-AFFA-E688-66EC-3E2325CB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24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5190D-7E52-9983-D44C-38A8CA703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2AD02-0F21-13F0-AF68-C05FC820D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C19905-7D9B-84FB-12C2-D92C01EEF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09A97-116C-51E0-E70F-DE8CB3E8C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F879A-88B2-0793-977C-E1DC1A9FB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70C86-3453-54EF-EE92-9DEC1E054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563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2B15B-3B7F-8E3A-8732-6433EC9EE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8DAFE-89F8-DA84-CE21-E93F35BB9B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0397B-5626-AA99-CBC8-3BF08FA9A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82F1C-6369-A54A-E268-A7CA9CE95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D0B8D4-0F4F-F0C7-6DB7-A572D3116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61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1AF6E4-E096-85FA-740E-49594899B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BB3479-15C7-D9D1-8E66-9FCD8A268C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F3139-B7B6-C5C8-7F48-2F8D0BFFE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CFC7B-5831-48E1-712E-157D2945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C141D-9D54-2CD3-5A10-3BE16A564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2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4BC8E6D-306E-E0B6-8703-CEF0AC16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9" y="365125"/>
            <a:ext cx="1136468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8EDCCB-C27E-F17F-8DFB-215766A2E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8" y="1825625"/>
            <a:ext cx="11364685" cy="4351338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85CEA-D82A-EF94-9097-50C85A1882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7CF1A4-2DAD-4A8B-B14F-5074D99E5DDE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FBAAE-617E-F06D-B920-0E70565448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76BEE-1129-E6A1-F30D-5C352D2EC0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E4E007-8163-42DF-92A3-ECBFB60D55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66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E3A8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ln>
            <a:noFill/>
          </a:ln>
          <a:solidFill>
            <a:srgbClr val="4B55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062A-16E7-115D-FFC1-63C05C470F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&amp; Problem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529B5-933E-1D01-466A-0C9494DAF0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b="1" dirty="0"/>
              <a:t>Smart AI </a:t>
            </a:r>
            <a:r>
              <a:rPr lang="en-US" b="1" dirty="0" err="1"/>
              <a:t>Ssytems</a:t>
            </a:r>
            <a:r>
              <a:rPr lang="en-US" b="1" dirty="0"/>
              <a:t> LLC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87976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F810D-F6F6-8ADD-04E8-C3EA7166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11E4AB-1E85-877F-7C2D-BA304683EB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r>
              <a:rPr lang="en-US" b="1" dirty="0"/>
              <a:t>GINKOVA</a:t>
            </a:r>
            <a:endParaRPr lang="en-US" dirty="0"/>
          </a:p>
          <a:p>
            <a:r>
              <a:rPr lang="en-US" b="1" dirty="0"/>
              <a:t>Building an Intelligent Health Ecosystem for Longer, Healthier Lives</a:t>
            </a:r>
            <a:endParaRPr lang="en-US" dirty="0"/>
          </a:p>
          <a:p>
            <a:br>
              <a:rPr lang="en-US" b="1" dirty="0"/>
            </a:br>
            <a:endParaRPr lang="en-US" dirty="0"/>
          </a:p>
          <a:p>
            <a:r>
              <a:rPr lang="en-US" b="1" dirty="0"/>
              <a:t>Food is our starting point.</a:t>
            </a:r>
            <a:endParaRPr lang="en-US" dirty="0"/>
          </a:p>
          <a:p>
            <a:r>
              <a:rPr lang="en-US" b="1" dirty="0"/>
              <a:t>AI-powered Personalized Health is our destination.</a:t>
            </a:r>
            <a:endParaRPr lang="en-US" dirty="0"/>
          </a:p>
          <a:p>
            <a:br>
              <a:rPr lang="en-US" b="1" dirty="0"/>
            </a:br>
            <a:endParaRPr lang="en-US" dirty="0"/>
          </a:p>
          <a:p>
            <a:r>
              <a:rPr lang="en-US" b="1" dirty="0"/>
              <a:t>Our Vision</a:t>
            </a:r>
            <a:endParaRPr lang="en-US" dirty="0"/>
          </a:p>
          <a:p>
            <a:r>
              <a:rPr lang="en-US" b="1" dirty="0"/>
              <a:t>To help people live healthier and longer lives by combining Artificial Intelligence, Personalized Nutrition, and Preventive Healthcare into one intelligent ecosystem.</a:t>
            </a:r>
            <a:endParaRPr lang="en-US" dirty="0"/>
          </a:p>
          <a:p>
            <a:br>
              <a:rPr lang="en-US" b="1" dirty="0"/>
            </a:br>
            <a:endParaRPr lang="en-US" dirty="0"/>
          </a:p>
          <a:p>
            <a:r>
              <a:rPr lang="en-US" b="1" dirty="0"/>
              <a:t>Founder</a:t>
            </a:r>
            <a:endParaRPr lang="en-US" dirty="0"/>
          </a:p>
          <a:p>
            <a:r>
              <a:rPr lang="en-US" b="1" dirty="0"/>
              <a:t>Hamidreza Afsharrad</a:t>
            </a:r>
            <a:endParaRPr lang="en-US" dirty="0"/>
          </a:p>
        </p:txBody>
      </p:sp>
      <p:sp>
        <p:nvSpPr>
          <p:cNvPr id="5" name="Smiley Face 4">
            <a:extLst>
              <a:ext uri="{FF2B5EF4-FFF2-40B4-BE49-F238E27FC236}">
                <a16:creationId xmlns:a16="http://schemas.microsoft.com/office/drawing/2014/main" id="{D6718630-22AF-CF7C-A5B7-BC5440477FB2}"/>
              </a:ext>
            </a:extLst>
          </p:cNvPr>
          <p:cNvSpPr/>
          <p:nvPr/>
        </p:nvSpPr>
        <p:spPr>
          <a:xfrm>
            <a:off x="241540" y="109268"/>
            <a:ext cx="1247954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1</a:t>
            </a:r>
            <a:endParaRPr lang="en-US" b="1" dirty="0"/>
          </a:p>
          <a:p>
            <a:pPr algn="ctr"/>
            <a:r>
              <a:rPr lang="en-US" b="1" dirty="0"/>
              <a:t>Cover</a:t>
            </a:r>
          </a:p>
        </p:txBody>
      </p:sp>
    </p:spTree>
    <p:extLst>
      <p:ext uri="{BB962C8B-B14F-4D97-AF65-F5344CB8AC3E}">
        <p14:creationId xmlns:p14="http://schemas.microsoft.com/office/powerpoint/2010/main" val="1656935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FF70A-EE79-1F55-B27F-614036B90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7E9B88-8568-6218-4841-69FA3BBD73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08745"/>
          </a:xfrm>
        </p:spPr>
        <p:txBody>
          <a:bodyPr>
            <a:normAutofit lnSpcReduction="10000"/>
          </a:bodyPr>
          <a:lstStyle/>
          <a:p>
            <a:pPr rtl="1"/>
            <a:r>
              <a:rPr lang="fa-IR" sz="1800" dirty="0">
                <a:solidFill>
                  <a:srgbClr val="FF0000"/>
                </a:solidFill>
              </a:rPr>
              <a:t>توضیحات من : </a:t>
            </a:r>
            <a:r>
              <a:rPr lang="en-US" sz="1800" dirty="0" err="1">
                <a:solidFill>
                  <a:srgbClr val="FF0000"/>
                </a:solidFill>
              </a:rPr>
              <a:t>این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بخش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روی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اسلاید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نمایش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داده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نمی‌شود</a:t>
            </a:r>
            <a:r>
              <a:rPr lang="en-US" sz="1800" dirty="0">
                <a:solidFill>
                  <a:srgbClr val="FF0000"/>
                </a:solidFill>
              </a:rPr>
              <a:t> و </a:t>
            </a:r>
            <a:r>
              <a:rPr lang="en-US" sz="1800" dirty="0" err="1">
                <a:solidFill>
                  <a:srgbClr val="FF0000"/>
                </a:solidFill>
              </a:rPr>
              <a:t>فقط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هنگام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ارائه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استفاده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 err="1">
                <a:solidFill>
                  <a:srgbClr val="FF0000"/>
                </a:solidFill>
              </a:rPr>
              <a:t>می‌شود</a:t>
            </a:r>
            <a:r>
              <a:rPr lang="en-US" sz="1800" dirty="0">
                <a:solidFill>
                  <a:srgbClr val="FF0000"/>
                </a:solidFill>
              </a:rPr>
              <a:t>:</a:t>
            </a:r>
            <a:endParaRPr lang="fa-IR" sz="1800" dirty="0">
              <a:solidFill>
                <a:srgbClr val="FF0000"/>
              </a:solidFill>
            </a:endParaRPr>
          </a:p>
          <a:p>
            <a:pPr algn="l"/>
            <a:r>
              <a:rPr lang="en-US" sz="1800" dirty="0"/>
              <a:t>Good afternoon, Sharks.</a:t>
            </a:r>
          </a:p>
          <a:p>
            <a:pPr algn="l"/>
            <a:r>
              <a:rPr lang="en-US" sz="1800" dirty="0"/>
              <a:t>My name is Hamidreza Afsharrad, and I am the </a:t>
            </a:r>
            <a:r>
              <a:rPr lang="en-US" sz="1800" dirty="0">
                <a:solidFill>
                  <a:srgbClr val="FF0000"/>
                </a:solidFill>
              </a:rPr>
              <a:t>founder</a:t>
            </a:r>
            <a:r>
              <a:rPr lang="en-US" sz="1800" dirty="0"/>
              <a:t> of GINKOVA product.</a:t>
            </a:r>
          </a:p>
          <a:p>
            <a:pPr algn="l"/>
            <a:r>
              <a:rPr lang="en-US" sz="1800" dirty="0"/>
              <a:t>We believe the future of healthcare is not only about treating disease—it is about helping people make better decisions before disease progresses.</a:t>
            </a:r>
          </a:p>
          <a:p>
            <a:pPr algn="l"/>
            <a:r>
              <a:rPr lang="en-US" sz="1800" dirty="0"/>
              <a:t>Every day, millions of people ask themselves a simple question:</a:t>
            </a:r>
          </a:p>
          <a:p>
            <a:pPr algn="l"/>
            <a:r>
              <a:rPr lang="en-US" sz="1800" i="1" dirty="0"/>
              <a:t>"What should I eat today?"</a:t>
            </a:r>
            <a:endParaRPr lang="en-US" sz="1800" dirty="0"/>
          </a:p>
          <a:p>
            <a:pPr algn="l"/>
            <a:r>
              <a:rPr lang="en-US" sz="1800" dirty="0"/>
              <a:t>The answer is different for every individual because it depends on their health condition, lifestyle, and nutritional goals.</a:t>
            </a:r>
          </a:p>
          <a:p>
            <a:pPr algn="l"/>
            <a:r>
              <a:rPr lang="en-US" sz="1800" dirty="0"/>
              <a:t>At GINKOVA, we are building an intelligent health ecosystem that combines artificial intelligence, personalized nutrition, and preventive healthcare to help people make smarter food decisions and live healthier, longer lives.</a:t>
            </a:r>
          </a:p>
          <a:p>
            <a:pPr algn="l"/>
            <a:r>
              <a:rPr lang="en-US" sz="1800" dirty="0"/>
              <a:t>Food is where we begin—but it is only the beginning of our vision.</a:t>
            </a:r>
          </a:p>
          <a:p>
            <a:pPr algn="l"/>
            <a:endParaRPr lang="en-US" sz="1800" dirty="0">
              <a:solidFill>
                <a:srgbClr val="FF0000"/>
              </a:solidFill>
            </a:endParaRPr>
          </a:p>
          <a:p>
            <a:pPr algn="r" rtl="1"/>
            <a:r>
              <a:rPr lang="en-US" sz="1800" dirty="0"/>
              <a:t>"</a:t>
            </a:r>
            <a:r>
              <a:rPr lang="en-US" sz="1800" dirty="0" err="1"/>
              <a:t>سلام</a:t>
            </a:r>
            <a:r>
              <a:rPr lang="en-US" sz="1800" dirty="0"/>
              <a:t>، </a:t>
            </a:r>
            <a:r>
              <a:rPr lang="en-US" sz="1800" dirty="0" err="1"/>
              <a:t>من</a:t>
            </a:r>
            <a:r>
              <a:rPr lang="en-US" sz="1800" dirty="0"/>
              <a:t> </a:t>
            </a:r>
            <a:r>
              <a:rPr lang="en-US" sz="1800" dirty="0" err="1"/>
              <a:t>حمیدرضا</a:t>
            </a:r>
            <a:r>
              <a:rPr lang="en-US" sz="1800" dirty="0"/>
              <a:t> </a:t>
            </a:r>
            <a:r>
              <a:rPr lang="en-US" sz="1800" dirty="0" err="1"/>
              <a:t>افشارراد</a:t>
            </a:r>
            <a:r>
              <a:rPr lang="en-US" sz="1800" dirty="0"/>
              <a:t>، </a:t>
            </a:r>
            <a:r>
              <a:rPr lang="en-US" sz="1800" dirty="0" err="1">
                <a:solidFill>
                  <a:srgbClr val="FF0000"/>
                </a:solidFill>
              </a:rPr>
              <a:t>بنیان‌گذار</a:t>
            </a:r>
            <a:r>
              <a:rPr lang="fa-IR" sz="1800" dirty="0"/>
              <a:t> محصول</a:t>
            </a:r>
            <a:r>
              <a:rPr lang="en-US" sz="1800" dirty="0"/>
              <a:t> GINKOVA </a:t>
            </a:r>
            <a:r>
              <a:rPr lang="fa-IR" sz="1800" dirty="0"/>
              <a:t> </a:t>
            </a:r>
            <a:r>
              <a:rPr lang="en-US" sz="1800" dirty="0" err="1"/>
              <a:t>هستم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باور</a:t>
            </a:r>
            <a:r>
              <a:rPr lang="en-US" sz="1800" dirty="0"/>
              <a:t> </a:t>
            </a:r>
            <a:r>
              <a:rPr lang="en-US" sz="1800" dirty="0" err="1"/>
              <a:t>داریم</a:t>
            </a:r>
            <a:r>
              <a:rPr lang="en-US" sz="1800" dirty="0"/>
              <a:t> </a:t>
            </a:r>
            <a:r>
              <a:rPr lang="en-US" sz="1800" dirty="0" err="1"/>
              <a:t>که</a:t>
            </a:r>
            <a:r>
              <a:rPr lang="en-US" sz="1800" dirty="0"/>
              <a:t> </a:t>
            </a:r>
            <a:r>
              <a:rPr lang="en-US" sz="1800" dirty="0" err="1"/>
              <a:t>آینده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، </a:t>
            </a:r>
            <a:r>
              <a:rPr lang="en-US" sz="1800" dirty="0" err="1"/>
              <a:t>درمان</a:t>
            </a:r>
            <a:r>
              <a:rPr lang="en-US" sz="1800" dirty="0"/>
              <a:t> </a:t>
            </a:r>
            <a:r>
              <a:rPr lang="en-US" sz="1800" dirty="0" err="1"/>
              <a:t>بیماری</a:t>
            </a:r>
            <a:r>
              <a:rPr lang="en-US" sz="1800" dirty="0"/>
              <a:t> </a:t>
            </a:r>
            <a:r>
              <a:rPr lang="en-US" sz="1800" dirty="0" err="1"/>
              <a:t>نیست</a:t>
            </a:r>
            <a:r>
              <a:rPr lang="en-US" sz="1800" dirty="0"/>
              <a:t>؛ </a:t>
            </a:r>
            <a:r>
              <a:rPr lang="en-US" sz="1800" dirty="0" err="1"/>
              <a:t>بلکه</a:t>
            </a:r>
            <a:r>
              <a:rPr lang="en-US" sz="1800" dirty="0"/>
              <a:t> </a:t>
            </a:r>
            <a:r>
              <a:rPr lang="en-US" sz="1800" dirty="0" err="1"/>
              <a:t>پیشگیری</a:t>
            </a:r>
            <a:r>
              <a:rPr lang="en-US" sz="1800" dirty="0"/>
              <a:t> و </a:t>
            </a:r>
            <a:r>
              <a:rPr lang="en-US" sz="1800" dirty="0" err="1"/>
              <a:t>تصمیم‌گیری</a:t>
            </a:r>
            <a:r>
              <a:rPr lang="en-US" sz="1800" dirty="0"/>
              <a:t> </a:t>
            </a:r>
            <a:r>
              <a:rPr lang="en-US" sz="1800" dirty="0" err="1"/>
              <a:t>هوشمندانه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 err="1"/>
              <a:t>امروز</a:t>
            </a:r>
            <a:r>
              <a:rPr lang="en-US" sz="1800" dirty="0"/>
              <a:t> </a:t>
            </a:r>
            <a:r>
              <a:rPr lang="en-US" sz="1800" dirty="0" err="1"/>
              <a:t>میلیون‌ها</a:t>
            </a:r>
            <a:r>
              <a:rPr lang="en-US" sz="1800" dirty="0"/>
              <a:t> </a:t>
            </a:r>
            <a:r>
              <a:rPr lang="en-US" sz="1800" dirty="0" err="1"/>
              <a:t>نفر</a:t>
            </a:r>
            <a:r>
              <a:rPr lang="en-US" sz="1800" dirty="0"/>
              <a:t> </a:t>
            </a:r>
            <a:r>
              <a:rPr lang="en-US" sz="1800" dirty="0" err="1"/>
              <a:t>هر</a:t>
            </a:r>
            <a:r>
              <a:rPr lang="en-US" sz="1800" dirty="0"/>
              <a:t> </a:t>
            </a:r>
            <a:r>
              <a:rPr lang="en-US" sz="1800" dirty="0" err="1"/>
              <a:t>روز</a:t>
            </a:r>
            <a:r>
              <a:rPr lang="en-US" sz="1800" dirty="0"/>
              <a:t> </a:t>
            </a:r>
            <a:r>
              <a:rPr lang="en-US" sz="1800" dirty="0" err="1"/>
              <a:t>با</a:t>
            </a:r>
            <a:r>
              <a:rPr lang="en-US" sz="1800" dirty="0"/>
              <a:t> </a:t>
            </a:r>
            <a:r>
              <a:rPr lang="en-US" sz="1800" dirty="0" err="1"/>
              <a:t>این</a:t>
            </a:r>
            <a:r>
              <a:rPr lang="en-US" sz="1800" dirty="0"/>
              <a:t> </a:t>
            </a:r>
            <a:r>
              <a:rPr lang="en-US" sz="1800" dirty="0" err="1"/>
              <a:t>سؤال</a:t>
            </a:r>
            <a:r>
              <a:rPr lang="en-US" sz="1800" dirty="0"/>
              <a:t> </a:t>
            </a:r>
            <a:r>
              <a:rPr lang="en-US" sz="1800" dirty="0" err="1"/>
              <a:t>روبه‌رو</a:t>
            </a:r>
            <a:r>
              <a:rPr lang="en-US" sz="1800" dirty="0"/>
              <a:t> </a:t>
            </a:r>
            <a:r>
              <a:rPr lang="en-US" sz="1800" dirty="0" err="1"/>
              <a:t>هستند</a:t>
            </a:r>
            <a:r>
              <a:rPr lang="en-US" sz="1800" dirty="0"/>
              <a:t> </a:t>
            </a:r>
            <a:r>
              <a:rPr lang="en-US" sz="1800" dirty="0" err="1"/>
              <a:t>که</a:t>
            </a:r>
            <a:r>
              <a:rPr lang="en-US" sz="1800" dirty="0"/>
              <a:t> «</a:t>
            </a:r>
            <a:r>
              <a:rPr lang="en-US" sz="1800" dirty="0" err="1"/>
              <a:t>چه</a:t>
            </a:r>
            <a:r>
              <a:rPr lang="en-US" sz="1800" dirty="0"/>
              <a:t> </a:t>
            </a:r>
            <a:r>
              <a:rPr lang="en-US" sz="1800" dirty="0" err="1"/>
              <a:t>غذایی</a:t>
            </a:r>
            <a:r>
              <a:rPr lang="en-US" sz="1800" dirty="0"/>
              <a:t> </a:t>
            </a:r>
            <a:r>
              <a:rPr lang="en-US" sz="1800" dirty="0" err="1"/>
              <a:t>برای</a:t>
            </a:r>
            <a:r>
              <a:rPr lang="en-US" sz="1800" dirty="0"/>
              <a:t> </a:t>
            </a:r>
            <a:r>
              <a:rPr lang="en-US" sz="1800" dirty="0" err="1"/>
              <a:t>من</a:t>
            </a:r>
            <a:r>
              <a:rPr lang="en-US" sz="1800" dirty="0"/>
              <a:t> </a:t>
            </a:r>
            <a:r>
              <a:rPr lang="en-US" sz="1800" dirty="0" err="1"/>
              <a:t>مناسب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؟» </a:t>
            </a:r>
            <a:r>
              <a:rPr lang="en-US" sz="1800" dirty="0" err="1"/>
              <a:t>اما</a:t>
            </a:r>
            <a:r>
              <a:rPr lang="en-US" sz="1800" dirty="0"/>
              <a:t> </a:t>
            </a:r>
            <a:r>
              <a:rPr lang="en-US" sz="1800" dirty="0" err="1"/>
              <a:t>پاسخ</a:t>
            </a:r>
            <a:r>
              <a:rPr lang="en-US" sz="1800" dirty="0"/>
              <a:t> </a:t>
            </a:r>
            <a:r>
              <a:rPr lang="en-US" sz="1800" dirty="0" err="1"/>
              <a:t>این</a:t>
            </a:r>
            <a:r>
              <a:rPr lang="en-US" sz="1800" dirty="0"/>
              <a:t> </a:t>
            </a:r>
            <a:r>
              <a:rPr lang="en-US" sz="1800" dirty="0" err="1"/>
              <a:t>سؤال</a:t>
            </a:r>
            <a:r>
              <a:rPr lang="en-US" sz="1800" dirty="0"/>
              <a:t> </a:t>
            </a:r>
            <a:r>
              <a:rPr lang="en-US" sz="1800" dirty="0" err="1"/>
              <a:t>برای</a:t>
            </a:r>
            <a:r>
              <a:rPr lang="en-US" sz="1800" dirty="0"/>
              <a:t> </a:t>
            </a:r>
            <a:r>
              <a:rPr lang="en-US" sz="1800" dirty="0" err="1"/>
              <a:t>هر</a:t>
            </a:r>
            <a:r>
              <a:rPr lang="en-US" sz="1800" dirty="0"/>
              <a:t> </a:t>
            </a:r>
            <a:r>
              <a:rPr lang="en-US" sz="1800" dirty="0" err="1"/>
              <a:t>فرد</a:t>
            </a:r>
            <a:r>
              <a:rPr lang="en-US" sz="1800" dirty="0"/>
              <a:t> </a:t>
            </a:r>
            <a:r>
              <a:rPr lang="en-US" sz="1800" dirty="0" err="1"/>
              <a:t>متفاوت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/>
              <a:t>GINKOVA </a:t>
            </a:r>
            <a:r>
              <a:rPr lang="en-US" sz="1800" dirty="0" err="1"/>
              <a:t>در</a:t>
            </a:r>
            <a:r>
              <a:rPr lang="en-US" sz="1800" dirty="0"/>
              <a:t> </a:t>
            </a:r>
            <a:r>
              <a:rPr lang="en-US" sz="1800" dirty="0" err="1"/>
              <a:t>حال</a:t>
            </a:r>
            <a:r>
              <a:rPr lang="en-US" sz="1800" dirty="0"/>
              <a:t> </a:t>
            </a:r>
            <a:r>
              <a:rPr lang="en-US" sz="1800" dirty="0" err="1"/>
              <a:t>ساخت</a:t>
            </a:r>
            <a:r>
              <a:rPr lang="en-US" sz="1800" dirty="0"/>
              <a:t> </a:t>
            </a:r>
            <a:r>
              <a:rPr lang="en-US" sz="1800" dirty="0" err="1"/>
              <a:t>یک</a:t>
            </a:r>
            <a:r>
              <a:rPr lang="en-US" sz="1800" dirty="0"/>
              <a:t> </a:t>
            </a:r>
            <a:r>
              <a:rPr lang="en-US" sz="1800" dirty="0" err="1"/>
              <a:t>اکوسیستم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 </a:t>
            </a:r>
            <a:r>
              <a:rPr lang="en-US" sz="1800" dirty="0" err="1"/>
              <a:t>هوشمند</a:t>
            </a:r>
            <a:r>
              <a:rPr lang="en-US" sz="1800" dirty="0"/>
              <a:t> </a:t>
            </a:r>
            <a:r>
              <a:rPr lang="en-US" sz="1800" dirty="0" err="1"/>
              <a:t>است</a:t>
            </a:r>
            <a:r>
              <a:rPr lang="en-US" sz="1800" dirty="0"/>
              <a:t> </a:t>
            </a:r>
            <a:r>
              <a:rPr lang="en-US" sz="1800" dirty="0" err="1"/>
              <a:t>که</a:t>
            </a:r>
            <a:r>
              <a:rPr lang="en-US" sz="1800" dirty="0"/>
              <a:t> </a:t>
            </a:r>
            <a:r>
              <a:rPr lang="en-US" sz="1800" dirty="0" err="1"/>
              <a:t>با</a:t>
            </a:r>
            <a:r>
              <a:rPr lang="en-US" sz="1800" dirty="0"/>
              <a:t> </a:t>
            </a:r>
            <a:r>
              <a:rPr lang="en-US" sz="1800" dirty="0" err="1"/>
              <a:t>استفاده</a:t>
            </a:r>
            <a:r>
              <a:rPr lang="en-US" sz="1800" dirty="0"/>
              <a:t> </a:t>
            </a:r>
            <a:r>
              <a:rPr lang="en-US" sz="1800" dirty="0" err="1"/>
              <a:t>از</a:t>
            </a:r>
            <a:r>
              <a:rPr lang="en-US" sz="1800" dirty="0"/>
              <a:t> </a:t>
            </a:r>
            <a:r>
              <a:rPr lang="en-US" sz="1800" dirty="0" err="1"/>
              <a:t>هوش</a:t>
            </a:r>
            <a:r>
              <a:rPr lang="en-US" sz="1800" dirty="0"/>
              <a:t> </a:t>
            </a:r>
            <a:r>
              <a:rPr lang="en-US" sz="1800" dirty="0" err="1"/>
              <a:t>مصنوعی</a:t>
            </a:r>
            <a:r>
              <a:rPr lang="en-US" sz="1800" dirty="0"/>
              <a:t>، </a:t>
            </a:r>
            <a:r>
              <a:rPr lang="en-US" sz="1800" dirty="0" err="1"/>
              <a:t>تغذیه</a:t>
            </a:r>
            <a:r>
              <a:rPr lang="en-US" sz="1800" dirty="0"/>
              <a:t> </a:t>
            </a:r>
            <a:r>
              <a:rPr lang="en-US" sz="1800" dirty="0" err="1"/>
              <a:t>شخصی‌سازی‌شده</a:t>
            </a:r>
            <a:r>
              <a:rPr lang="en-US" sz="1800" dirty="0"/>
              <a:t> و </a:t>
            </a:r>
            <a:r>
              <a:rPr lang="en-US" sz="1800" dirty="0" err="1"/>
              <a:t>داده‌های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، </a:t>
            </a:r>
            <a:r>
              <a:rPr lang="en-US" sz="1800" dirty="0" err="1"/>
              <a:t>به</a:t>
            </a:r>
            <a:r>
              <a:rPr lang="en-US" sz="1800" dirty="0"/>
              <a:t> </a:t>
            </a:r>
            <a:r>
              <a:rPr lang="en-US" sz="1800" dirty="0" err="1"/>
              <a:t>افراد</a:t>
            </a:r>
            <a:r>
              <a:rPr lang="en-US" sz="1800" dirty="0"/>
              <a:t> </a:t>
            </a:r>
            <a:r>
              <a:rPr lang="en-US" sz="1800" dirty="0" err="1"/>
              <a:t>کمک</a:t>
            </a:r>
            <a:r>
              <a:rPr lang="en-US" sz="1800" dirty="0"/>
              <a:t> </a:t>
            </a:r>
            <a:r>
              <a:rPr lang="en-US" sz="1800" dirty="0" err="1"/>
              <a:t>می‌کند</a:t>
            </a:r>
            <a:r>
              <a:rPr lang="en-US" sz="1800" dirty="0"/>
              <a:t> </a:t>
            </a:r>
            <a:r>
              <a:rPr lang="en-US" sz="1800" dirty="0" err="1"/>
              <a:t>تصمیم‌های</a:t>
            </a:r>
            <a:r>
              <a:rPr lang="en-US" sz="1800" dirty="0"/>
              <a:t> </a:t>
            </a:r>
            <a:r>
              <a:rPr lang="en-US" sz="1800" dirty="0" err="1"/>
              <a:t>بهتر</a:t>
            </a:r>
            <a:r>
              <a:rPr lang="en-US" sz="1800" dirty="0"/>
              <a:t>، </a:t>
            </a:r>
            <a:r>
              <a:rPr lang="en-US" sz="1800" dirty="0" err="1"/>
              <a:t>سالم‌تر</a:t>
            </a:r>
            <a:r>
              <a:rPr lang="en-US" sz="1800" dirty="0"/>
              <a:t> و </a:t>
            </a:r>
            <a:r>
              <a:rPr lang="en-US" sz="1800" dirty="0" err="1"/>
              <a:t>آگاهانه‌تری</a:t>
            </a:r>
            <a:r>
              <a:rPr lang="en-US" sz="1800" dirty="0"/>
              <a:t> </a:t>
            </a:r>
            <a:r>
              <a:rPr lang="en-US" sz="1800" dirty="0" err="1"/>
              <a:t>بگیرند</a:t>
            </a:r>
            <a:r>
              <a:rPr lang="en-US" sz="1800" dirty="0"/>
              <a:t>.</a:t>
            </a:r>
          </a:p>
          <a:p>
            <a:pPr algn="r" rtl="1"/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از</a:t>
            </a:r>
            <a:r>
              <a:rPr lang="en-US" sz="1800" dirty="0"/>
              <a:t> </a:t>
            </a:r>
            <a:r>
              <a:rPr lang="en-US" sz="1800" dirty="0" err="1"/>
              <a:t>غذا</a:t>
            </a:r>
            <a:r>
              <a:rPr lang="en-US" sz="1800" dirty="0"/>
              <a:t> </a:t>
            </a:r>
            <a:r>
              <a:rPr lang="en-US" sz="1800" dirty="0" err="1"/>
              <a:t>شروع</a:t>
            </a:r>
            <a:r>
              <a:rPr lang="en-US" sz="1800" dirty="0"/>
              <a:t> </a:t>
            </a:r>
            <a:r>
              <a:rPr lang="en-US" sz="1800" dirty="0" err="1"/>
              <a:t>می‌کنیم</a:t>
            </a:r>
            <a:r>
              <a:rPr lang="en-US" sz="1800" dirty="0"/>
              <a:t>، </a:t>
            </a:r>
            <a:r>
              <a:rPr lang="en-US" sz="1800" dirty="0" err="1"/>
              <a:t>اما</a:t>
            </a:r>
            <a:r>
              <a:rPr lang="en-US" sz="1800" dirty="0"/>
              <a:t> </a:t>
            </a:r>
            <a:r>
              <a:rPr lang="en-US" sz="1800" dirty="0" err="1"/>
              <a:t>مأموریت</a:t>
            </a:r>
            <a:r>
              <a:rPr lang="en-US" sz="1800" dirty="0"/>
              <a:t> </a:t>
            </a:r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بسیار</a:t>
            </a:r>
            <a:r>
              <a:rPr lang="en-US" sz="1800" dirty="0"/>
              <a:t> </a:t>
            </a:r>
            <a:r>
              <a:rPr lang="en-US" sz="1800" dirty="0" err="1"/>
              <a:t>فراتر</a:t>
            </a:r>
            <a:r>
              <a:rPr lang="en-US" sz="1800" dirty="0"/>
              <a:t> </a:t>
            </a:r>
            <a:r>
              <a:rPr lang="en-US" sz="1800" dirty="0" err="1"/>
              <a:t>از</a:t>
            </a:r>
            <a:r>
              <a:rPr lang="en-US" sz="1800" dirty="0"/>
              <a:t> </a:t>
            </a:r>
            <a:r>
              <a:rPr lang="en-US" sz="1800" dirty="0" err="1"/>
              <a:t>غذاست</a:t>
            </a:r>
            <a:r>
              <a:rPr lang="en-US" sz="1800" dirty="0"/>
              <a:t>؛ </a:t>
            </a:r>
            <a:r>
              <a:rPr lang="en-US" sz="1800" dirty="0" err="1"/>
              <a:t>ما</a:t>
            </a:r>
            <a:r>
              <a:rPr lang="en-US" sz="1800" dirty="0"/>
              <a:t> </a:t>
            </a:r>
            <a:r>
              <a:rPr lang="en-US" sz="1800" dirty="0" err="1"/>
              <a:t>می‌خواهیم</a:t>
            </a:r>
            <a:r>
              <a:rPr lang="en-US" sz="1800" dirty="0"/>
              <a:t> </a:t>
            </a:r>
            <a:r>
              <a:rPr lang="en-US" sz="1800" dirty="0" err="1"/>
              <a:t>همراه</a:t>
            </a:r>
            <a:r>
              <a:rPr lang="en-US" sz="1800" dirty="0"/>
              <a:t> </a:t>
            </a:r>
            <a:r>
              <a:rPr lang="en-US" sz="1800" dirty="0" err="1"/>
              <a:t>هوشمند</a:t>
            </a:r>
            <a:r>
              <a:rPr lang="en-US" sz="1800" dirty="0"/>
              <a:t> </a:t>
            </a:r>
            <a:r>
              <a:rPr lang="en-US" sz="1800" dirty="0" err="1"/>
              <a:t>سلامت</a:t>
            </a:r>
            <a:r>
              <a:rPr lang="en-US" sz="1800" dirty="0"/>
              <a:t> </a:t>
            </a:r>
            <a:r>
              <a:rPr lang="en-US" sz="1800" dirty="0" err="1"/>
              <a:t>افراد</a:t>
            </a:r>
            <a:r>
              <a:rPr lang="en-US" sz="1800" dirty="0"/>
              <a:t> </a:t>
            </a:r>
            <a:r>
              <a:rPr lang="en-US" sz="1800" dirty="0" err="1"/>
              <a:t>در</a:t>
            </a:r>
            <a:r>
              <a:rPr lang="en-US" sz="1800" dirty="0"/>
              <a:t> </a:t>
            </a:r>
            <a:r>
              <a:rPr lang="en-US" sz="1800" dirty="0" err="1"/>
              <a:t>مسیر</a:t>
            </a:r>
            <a:r>
              <a:rPr lang="en-US" sz="1800" dirty="0"/>
              <a:t> </a:t>
            </a:r>
            <a:r>
              <a:rPr lang="en-US" sz="1800" dirty="0" err="1"/>
              <a:t>یک</a:t>
            </a:r>
            <a:r>
              <a:rPr lang="en-US" sz="1800" dirty="0"/>
              <a:t> </a:t>
            </a:r>
            <a:r>
              <a:rPr lang="en-US" sz="1800" dirty="0" err="1"/>
              <a:t>زندگی</a:t>
            </a:r>
            <a:r>
              <a:rPr lang="en-US" sz="1800" dirty="0"/>
              <a:t> </a:t>
            </a:r>
            <a:r>
              <a:rPr lang="en-US" sz="1800" dirty="0" err="1"/>
              <a:t>سالم‌تر</a:t>
            </a:r>
            <a:r>
              <a:rPr lang="en-US" sz="1800" dirty="0"/>
              <a:t> و </a:t>
            </a:r>
            <a:r>
              <a:rPr lang="en-US" sz="1800" dirty="0" err="1"/>
              <a:t>طولانی‌تر</a:t>
            </a:r>
            <a:r>
              <a:rPr lang="en-US" sz="1800" dirty="0"/>
              <a:t> </a:t>
            </a:r>
            <a:r>
              <a:rPr lang="en-US" sz="1800" dirty="0" err="1"/>
              <a:t>باشیم</a:t>
            </a:r>
            <a:r>
              <a:rPr lang="en-US" sz="1800" dirty="0"/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315954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F9EEF-6FDA-26A7-65E1-59CA0246C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3ABB63A-6BC7-A7B3-9AD6-91CD97615E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5475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Millions of people struggle to make the right food choices every day.</a:t>
            </a:r>
          </a:p>
          <a:p>
            <a:r>
              <a:rPr lang="en-US" b="1" dirty="0"/>
              <a:t>Every meal is a health decision — but most people lack the right guidance.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Today's Reality</a:t>
            </a:r>
          </a:p>
          <a:p>
            <a:r>
              <a:rPr lang="en-US" dirty="0"/>
              <a:t>People with diabetes, fatty liver, hypertension, and obesity need personalized nutrition—not just food. </a:t>
            </a:r>
          </a:p>
          <a:p>
            <a:r>
              <a:rPr lang="en-US" dirty="0"/>
              <a:t>Families often don't have the time or expertise to prepare appropriate meals. </a:t>
            </a:r>
          </a:p>
          <a:p>
            <a:r>
              <a:rPr lang="en-US" dirty="0"/>
              <a:t>Healthy restaurants rarely provide meals tailored to an individual's medical or nutritional needs. </a:t>
            </a:r>
          </a:p>
          <a:p>
            <a:r>
              <a:rPr lang="en-US" dirty="0"/>
              <a:t>Most food delivery platforms focus on convenience, not health.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The Result</a:t>
            </a:r>
          </a:p>
          <a:p>
            <a:r>
              <a:rPr lang="en-US" dirty="0"/>
              <a:t>People don't just struggle to find healthy food.</a:t>
            </a:r>
          </a:p>
          <a:p>
            <a:endParaRPr lang="fa-IR" b="1" dirty="0"/>
          </a:p>
          <a:p>
            <a:r>
              <a:rPr lang="en-US" b="1" dirty="0"/>
              <a:t>They struggle to make the right health decision at every meal.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we've seen the problem, the question is: </a:t>
            </a:r>
            <a:endParaRPr lang="fa-IR" dirty="0"/>
          </a:p>
          <a:p>
            <a:r>
              <a:rPr lang="en-US" dirty="0"/>
              <a:t>can we solve it in a smarter way? </a:t>
            </a:r>
            <a:endParaRPr lang="fa-IR" dirty="0"/>
          </a:p>
          <a:p>
            <a:r>
              <a:rPr lang="en-US" dirty="0"/>
              <a:t>Let me introduce GINKOVA's solution.</a:t>
            </a:r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5EB66EF9-B5B1-06EF-0058-06652AF6C70E}"/>
              </a:ext>
            </a:extLst>
          </p:cNvPr>
          <p:cNvSpPr/>
          <p:nvPr/>
        </p:nvSpPr>
        <p:spPr>
          <a:xfrm>
            <a:off x="149523" y="109268"/>
            <a:ext cx="2041585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2</a:t>
            </a:r>
            <a:endParaRPr lang="en-US" b="1" dirty="0"/>
          </a:p>
          <a:p>
            <a:pPr algn="ctr"/>
            <a:r>
              <a:rPr lang="en-US" b="1" dirty="0"/>
              <a:t>The Problem</a:t>
            </a:r>
          </a:p>
        </p:txBody>
      </p:sp>
    </p:spTree>
    <p:extLst>
      <p:ext uri="{BB962C8B-B14F-4D97-AF65-F5344CB8AC3E}">
        <p14:creationId xmlns:p14="http://schemas.microsoft.com/office/powerpoint/2010/main" val="20007890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D49F3-FFB2-7B83-1D76-2A63737FC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47A1F43-35CA-A340-D658-D9BE52037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Let me start with the problem we are trying to solve.</a:t>
            </a:r>
          </a:p>
          <a:p>
            <a:pPr algn="l"/>
            <a:r>
              <a:rPr lang="en-US" dirty="0"/>
              <a:t>Millions of people worldwide live with chronic conditions such as diabetes, fatty liver disease, hypertension, or obesity.</a:t>
            </a:r>
          </a:p>
          <a:p>
            <a:pPr algn="l"/>
            <a:r>
              <a:rPr lang="en-US" dirty="0"/>
              <a:t>For these individuals, choosing food is not just a daily habit—it is a critical health decision.</a:t>
            </a:r>
          </a:p>
          <a:p>
            <a:pPr algn="l"/>
            <a:r>
              <a:rPr lang="en-US" dirty="0"/>
              <a:t>Unfortunately, most restaurants and food delivery platforms optimize for taste, price, and convenience rather than an individual's medical or nutritional needs.</a:t>
            </a:r>
          </a:p>
          <a:p>
            <a:pPr algn="l"/>
            <a:r>
              <a:rPr lang="en-US" dirty="0"/>
              <a:t>Families often lack the time or expertise to prepare appropriate meals for their loved ones.</a:t>
            </a:r>
          </a:p>
          <a:p>
            <a:pPr algn="l"/>
            <a:r>
              <a:rPr lang="en-US" dirty="0"/>
              <a:t>As a result, people make health-impacting food decisions every day without personalized guidance.</a:t>
            </a:r>
          </a:p>
          <a:p>
            <a:pPr algn="l"/>
            <a:r>
              <a:rPr lang="en-US" dirty="0"/>
              <a:t>We believe the real problem is not the lack of healthy food—it is the lack of intelligent, personalized decision support.</a:t>
            </a:r>
            <a:endParaRPr lang="fa-IR" dirty="0"/>
          </a:p>
          <a:p>
            <a:pPr algn="r" rtl="1"/>
            <a:endParaRPr lang="en-US" dirty="0"/>
          </a:p>
          <a:p>
            <a:pPr algn="r" rtl="1"/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ابتدا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مشکلی</a:t>
            </a:r>
            <a:r>
              <a:rPr lang="en-US" dirty="0"/>
              <a:t> </a:t>
            </a:r>
            <a:r>
              <a:rPr lang="en-US" dirty="0" err="1"/>
              <a:t>صحبت</a:t>
            </a:r>
            <a:r>
              <a:rPr lang="en-US" dirty="0"/>
              <a:t> </a:t>
            </a:r>
            <a:r>
              <a:rPr lang="en-US" dirty="0" err="1"/>
              <a:t>کنم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قصد</a:t>
            </a:r>
            <a:r>
              <a:rPr lang="en-US" dirty="0"/>
              <a:t> </a:t>
            </a:r>
            <a:r>
              <a:rPr lang="en-US" dirty="0" err="1"/>
              <a:t>حل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میلیون‌ها</a:t>
            </a:r>
            <a:r>
              <a:rPr lang="en-US" dirty="0"/>
              <a:t> </a:t>
            </a:r>
            <a:r>
              <a:rPr lang="en-US" dirty="0" err="1"/>
              <a:t>نفر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سراسر</a:t>
            </a:r>
            <a:r>
              <a:rPr lang="en-US" dirty="0"/>
              <a:t> </a:t>
            </a:r>
            <a:r>
              <a:rPr lang="en-US" dirty="0" err="1"/>
              <a:t>جهان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بیماری‌هایی</a:t>
            </a:r>
            <a:r>
              <a:rPr lang="en-US" dirty="0"/>
              <a:t>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کبد</a:t>
            </a:r>
            <a:r>
              <a:rPr lang="en-US" dirty="0"/>
              <a:t> </a:t>
            </a:r>
            <a:r>
              <a:rPr lang="en-US" dirty="0" err="1"/>
              <a:t>چرب</a:t>
            </a:r>
            <a:r>
              <a:rPr lang="en-US" dirty="0"/>
              <a:t>، </a:t>
            </a:r>
            <a:r>
              <a:rPr lang="en-US" dirty="0" err="1"/>
              <a:t>فشار</a:t>
            </a:r>
            <a:r>
              <a:rPr lang="en-US" dirty="0"/>
              <a:t> </a:t>
            </a:r>
            <a:r>
              <a:rPr lang="en-US" dirty="0" err="1"/>
              <a:t>خون</a:t>
            </a:r>
            <a:r>
              <a:rPr lang="en-US" dirty="0"/>
              <a:t> </a:t>
            </a:r>
            <a:r>
              <a:rPr lang="en-US" dirty="0" err="1"/>
              <a:t>بالا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اضافه‌وزن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،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تنها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روزمره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 </a:t>
            </a:r>
            <a:r>
              <a:rPr lang="en-US" dirty="0" err="1"/>
              <a:t>بلکه</a:t>
            </a:r>
            <a:r>
              <a:rPr lang="en-US" dirty="0"/>
              <a:t> </a:t>
            </a:r>
            <a:r>
              <a:rPr lang="en-US" dirty="0" err="1"/>
              <a:t>بخشی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آن‌هاست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عین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، </a:t>
            </a:r>
            <a:r>
              <a:rPr lang="en-US" dirty="0" err="1"/>
              <a:t>بیشتر</a:t>
            </a:r>
            <a:r>
              <a:rPr lang="en-US" dirty="0"/>
              <a:t> </a:t>
            </a:r>
            <a:r>
              <a:rPr lang="en-US" dirty="0" err="1"/>
              <a:t>رستوران‌ها</a:t>
            </a:r>
            <a:r>
              <a:rPr lang="en-US" dirty="0"/>
              <a:t> و </a:t>
            </a:r>
            <a:r>
              <a:rPr lang="en-US" dirty="0" err="1"/>
              <a:t>پلتفرم‌های</a:t>
            </a:r>
            <a:r>
              <a:rPr lang="en-US" dirty="0"/>
              <a:t> </a:t>
            </a:r>
            <a:r>
              <a:rPr lang="en-US" dirty="0" err="1"/>
              <a:t>سفارش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،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طعم</a:t>
            </a:r>
            <a:r>
              <a:rPr lang="en-US" dirty="0"/>
              <a:t>، </a:t>
            </a:r>
            <a:r>
              <a:rPr lang="en-US" dirty="0" err="1"/>
              <a:t>قیمت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سرعت</a:t>
            </a:r>
            <a:r>
              <a:rPr lang="en-US" dirty="0"/>
              <a:t> </a:t>
            </a:r>
            <a:r>
              <a:rPr lang="en-US" dirty="0" err="1"/>
              <a:t>تحویل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، </a:t>
            </a:r>
            <a:r>
              <a:rPr lang="en-US" dirty="0" err="1"/>
              <a:t>نه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شرایط</a:t>
            </a:r>
            <a:r>
              <a:rPr lang="en-US" dirty="0"/>
              <a:t> </a:t>
            </a:r>
            <a:r>
              <a:rPr lang="en-US" dirty="0" err="1"/>
              <a:t>پزشکی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فرد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خانواده‌ها</a:t>
            </a:r>
            <a:r>
              <a:rPr lang="en-US" dirty="0"/>
              <a:t> </a:t>
            </a:r>
            <a:r>
              <a:rPr lang="en-US" dirty="0" err="1"/>
              <a:t>نیز</a:t>
            </a:r>
            <a:r>
              <a:rPr lang="en-US" dirty="0"/>
              <a:t> </a:t>
            </a:r>
            <a:r>
              <a:rPr lang="en-US" dirty="0" err="1"/>
              <a:t>فرصت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دانش</a:t>
            </a:r>
            <a:r>
              <a:rPr lang="en-US" dirty="0"/>
              <a:t> </a:t>
            </a:r>
            <a:r>
              <a:rPr lang="en-US" dirty="0" err="1"/>
              <a:t>کافی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آماده‌سازی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عزیزان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ندارند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نتیجه</a:t>
            </a:r>
            <a:r>
              <a:rPr lang="en-US" dirty="0"/>
              <a:t>،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مجبورند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تصمیم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مستقیماً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تأثیر</a:t>
            </a:r>
            <a:r>
              <a:rPr lang="en-US" dirty="0"/>
              <a:t> </a:t>
            </a:r>
            <a:r>
              <a:rPr lang="en-US" dirty="0" err="1"/>
              <a:t>می‌گذارد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بدون</a:t>
            </a:r>
            <a:r>
              <a:rPr lang="en-US" dirty="0"/>
              <a:t> </a:t>
            </a:r>
            <a:r>
              <a:rPr lang="en-US" dirty="0" err="1"/>
              <a:t>اینکه</a:t>
            </a:r>
            <a:r>
              <a:rPr lang="en-US" dirty="0"/>
              <a:t> </a:t>
            </a:r>
            <a:r>
              <a:rPr lang="en-US" dirty="0" err="1"/>
              <a:t>راهنمایی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و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اختیار</a:t>
            </a:r>
            <a:r>
              <a:rPr lang="en-US" dirty="0"/>
              <a:t> </a:t>
            </a:r>
            <a:r>
              <a:rPr lang="en-US" dirty="0" err="1"/>
              <a:t>داشته</a:t>
            </a:r>
            <a:r>
              <a:rPr lang="en-US" dirty="0"/>
              <a:t> </a:t>
            </a:r>
            <a:r>
              <a:rPr lang="en-US" dirty="0" err="1"/>
              <a:t>باشند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معتقدیم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اصلی</a:t>
            </a:r>
            <a:r>
              <a:rPr lang="en-US" dirty="0"/>
              <a:t> </a:t>
            </a:r>
            <a:r>
              <a:rPr lang="en-US" dirty="0" err="1"/>
              <a:t>کمبود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 </a:t>
            </a:r>
            <a:r>
              <a:rPr lang="en-US" dirty="0" err="1"/>
              <a:t>مشکل</a:t>
            </a:r>
            <a:r>
              <a:rPr lang="en-US" dirty="0"/>
              <a:t>، </a:t>
            </a:r>
            <a:r>
              <a:rPr lang="en-US" dirty="0" err="1"/>
              <a:t>نبود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راهنمای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l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88453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47083-8BA8-4834-EF96-C6A90BDA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08B8D0-8DB4-499B-7A8C-4DD911AD7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63379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A Real Problem We Have Seen</a:t>
            </a:r>
          </a:p>
          <a:p>
            <a:r>
              <a:rPr lang="en-US" b="1" dirty="0"/>
              <a:t>Managing health through nutrition is a daily challenge </a:t>
            </a:r>
          </a:p>
          <a:p>
            <a:r>
              <a:rPr lang="en-US" b="1" dirty="0"/>
              <a:t>for millions of families.</a:t>
            </a:r>
          </a:p>
          <a:p>
            <a:endParaRPr lang="en-US" b="1" dirty="0"/>
          </a:p>
          <a:p>
            <a:r>
              <a:rPr lang="en-US" dirty="0"/>
              <a:t>Many patients and elderly individuals face difficulties such as:</a:t>
            </a:r>
          </a:p>
          <a:p>
            <a:r>
              <a:rPr lang="en-US" dirty="0"/>
              <a:t>Preparing appropriate meals every day </a:t>
            </a:r>
          </a:p>
          <a:p>
            <a:r>
              <a:rPr lang="en-US" dirty="0"/>
              <a:t>Finding reliable healthy food options </a:t>
            </a:r>
          </a:p>
          <a:p>
            <a:r>
              <a:rPr lang="en-US" dirty="0"/>
              <a:t>Depending on family members or caregivers for meal preparation </a:t>
            </a:r>
          </a:p>
          <a:p>
            <a:r>
              <a:rPr lang="en-US" dirty="0"/>
              <a:t>Maintaining a consistent nutrition plan </a:t>
            </a:r>
          </a:p>
          <a:p>
            <a:br>
              <a:rPr lang="en-US" dirty="0"/>
            </a:br>
            <a:r>
              <a:rPr lang="en-US" b="1" dirty="0"/>
              <a:t>The challenge is not only access to food.</a:t>
            </a:r>
          </a:p>
          <a:p>
            <a:r>
              <a:rPr lang="en-US" b="1" dirty="0"/>
              <a:t>It is access to the right food, at the right time, for the right person.</a:t>
            </a:r>
          </a:p>
          <a:p>
            <a:endParaRPr lang="fa-IR" b="1" dirty="0"/>
          </a:p>
          <a:p>
            <a:r>
              <a:rPr lang="en-US" dirty="0"/>
              <a:t>We identified the problem. Now let's look at how GINKOVA transforms this challenge into an intelligent solution.</a:t>
            </a:r>
            <a:endParaRPr lang="en-US" b="1" dirty="0"/>
          </a:p>
        </p:txBody>
      </p:sp>
      <p:sp>
        <p:nvSpPr>
          <p:cNvPr id="6" name="Smiley Face 5">
            <a:extLst>
              <a:ext uri="{FF2B5EF4-FFF2-40B4-BE49-F238E27FC236}">
                <a16:creationId xmlns:a16="http://schemas.microsoft.com/office/drawing/2014/main" id="{1A149CEB-0966-3F4F-A845-088A60080D14}"/>
              </a:ext>
            </a:extLst>
          </p:cNvPr>
          <p:cNvSpPr/>
          <p:nvPr/>
        </p:nvSpPr>
        <p:spPr>
          <a:xfrm>
            <a:off x="184024" y="109268"/>
            <a:ext cx="2472911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3</a:t>
            </a:r>
            <a:endParaRPr lang="en-US" b="1" dirty="0"/>
          </a:p>
          <a:p>
            <a:pPr algn="ctr"/>
            <a:r>
              <a:rPr lang="en-US" b="1" dirty="0"/>
              <a:t>Why Now? / The Human Story</a:t>
            </a:r>
          </a:p>
        </p:txBody>
      </p:sp>
    </p:spTree>
    <p:extLst>
      <p:ext uri="{BB962C8B-B14F-4D97-AF65-F5344CB8AC3E}">
        <p14:creationId xmlns:p14="http://schemas.microsoft.com/office/powerpoint/2010/main" val="1580720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E08C6-7F73-8773-D4D6-12BBBBCCB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8EB4A04-E34A-4489-A40D-BA1AD92B2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Before building GINKOVA, we looked at a very simple but important question:</a:t>
            </a:r>
          </a:p>
          <a:p>
            <a:pPr algn="l"/>
            <a:r>
              <a:rPr lang="en-US" dirty="0"/>
              <a:t>How do people with health challenges manage their daily nutrition?</a:t>
            </a:r>
          </a:p>
          <a:p>
            <a:pPr algn="l"/>
            <a:r>
              <a:rPr lang="en-US" dirty="0"/>
              <a:t>Through conversations and observations, we realized that many patients, elderly individuals, and their families face the same problem.</a:t>
            </a:r>
          </a:p>
          <a:p>
            <a:pPr algn="l"/>
            <a:r>
              <a:rPr lang="en-US" dirty="0"/>
              <a:t>They know nutrition matters, but preparing the right meals every day is difficult.</a:t>
            </a:r>
          </a:p>
          <a:p>
            <a:pPr algn="l"/>
            <a:r>
              <a:rPr lang="en-US" dirty="0"/>
              <a:t>Some patients have to cook for themselves despite their health conditions. Others depend on family members or hired caregivers, which is not always practical or sustainable.</a:t>
            </a:r>
          </a:p>
          <a:p>
            <a:pPr algn="l"/>
            <a:r>
              <a:rPr lang="en-US" dirty="0"/>
              <a:t>This showed us that the problem is not only about food availability.</a:t>
            </a:r>
          </a:p>
          <a:p>
            <a:pPr algn="l"/>
            <a:r>
              <a:rPr lang="en-US" dirty="0"/>
              <a:t>The real challenge is providing the right nutrition solution for the right person in a simple and reliable way.</a:t>
            </a:r>
          </a:p>
          <a:p>
            <a:pPr algn="r" rtl="1"/>
            <a:br>
              <a:rPr lang="en-US" dirty="0"/>
            </a:br>
            <a:r>
              <a:rPr lang="en-US" dirty="0" err="1"/>
              <a:t>قبل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GINKOVA،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سؤال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کردیم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مشکلات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مواجه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چگونه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؟</a:t>
            </a:r>
          </a:p>
          <a:p>
            <a:pPr algn="r" rtl="1"/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طریق</a:t>
            </a:r>
            <a:r>
              <a:rPr lang="en-US" dirty="0"/>
              <a:t> </a:t>
            </a:r>
            <a:r>
              <a:rPr lang="en-US" dirty="0" err="1"/>
              <a:t>گفتگوها</a:t>
            </a:r>
            <a:r>
              <a:rPr lang="en-US" dirty="0"/>
              <a:t> و </a:t>
            </a:r>
            <a:r>
              <a:rPr lang="en-US" dirty="0" err="1"/>
              <a:t>مشاهده‌های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، </a:t>
            </a:r>
            <a:r>
              <a:rPr lang="en-US" dirty="0" err="1"/>
              <a:t>متوجه</a:t>
            </a:r>
            <a:r>
              <a:rPr lang="en-US" dirty="0"/>
              <a:t> </a:t>
            </a:r>
            <a:r>
              <a:rPr lang="en-US" dirty="0" err="1"/>
              <a:t>شدیم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بیماران</a:t>
            </a:r>
            <a:r>
              <a:rPr lang="en-US" dirty="0"/>
              <a:t>، </a:t>
            </a:r>
            <a:r>
              <a:rPr lang="en-US" dirty="0" err="1"/>
              <a:t>سالمندان</a:t>
            </a:r>
            <a:r>
              <a:rPr lang="en-US" dirty="0"/>
              <a:t> و </a:t>
            </a:r>
            <a:r>
              <a:rPr lang="en-US" dirty="0" err="1"/>
              <a:t>خانواده‌های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مشترک</a:t>
            </a:r>
            <a:r>
              <a:rPr lang="en-US" dirty="0"/>
              <a:t> </a:t>
            </a:r>
            <a:r>
              <a:rPr lang="en-US" dirty="0" err="1"/>
              <a:t>روبه‌رو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می‌دانند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اهمیت</a:t>
            </a:r>
            <a:r>
              <a:rPr lang="en-US" dirty="0"/>
              <a:t> </a:t>
            </a:r>
            <a:r>
              <a:rPr lang="en-US" dirty="0" err="1"/>
              <a:t>زیادی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آماده‌سازی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برایشان</a:t>
            </a:r>
            <a:r>
              <a:rPr lang="en-US" dirty="0"/>
              <a:t> </a:t>
            </a:r>
            <a:r>
              <a:rPr lang="en-US" dirty="0" err="1"/>
              <a:t>دشوار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برخی</a:t>
            </a:r>
            <a:r>
              <a:rPr lang="en-US" dirty="0"/>
              <a:t> </a:t>
            </a:r>
            <a:r>
              <a:rPr lang="en-US" dirty="0" err="1"/>
              <a:t>بیماران</a:t>
            </a:r>
            <a:r>
              <a:rPr lang="en-US" dirty="0"/>
              <a:t> </a:t>
            </a:r>
            <a:r>
              <a:rPr lang="en-US" dirty="0" err="1"/>
              <a:t>مجبور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وجود</a:t>
            </a:r>
            <a:r>
              <a:rPr lang="en-US" dirty="0"/>
              <a:t> </a:t>
            </a:r>
            <a:r>
              <a:rPr lang="en-US" dirty="0" err="1"/>
              <a:t>شرایط</a:t>
            </a:r>
            <a:r>
              <a:rPr lang="en-US" dirty="0"/>
              <a:t> </a:t>
            </a:r>
            <a:r>
              <a:rPr lang="en-US" dirty="0" err="1"/>
              <a:t>جسمی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، </a:t>
            </a:r>
            <a:r>
              <a:rPr lang="en-US" dirty="0" err="1"/>
              <a:t>شخصاً</a:t>
            </a:r>
            <a:r>
              <a:rPr lang="en-US" dirty="0"/>
              <a:t> </a:t>
            </a:r>
            <a:r>
              <a:rPr lang="en-US" dirty="0" err="1"/>
              <a:t>آشپزی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 </a:t>
            </a:r>
            <a:r>
              <a:rPr lang="en-US" dirty="0" err="1"/>
              <a:t>برخی</a:t>
            </a:r>
            <a:r>
              <a:rPr lang="en-US" dirty="0"/>
              <a:t> </a:t>
            </a:r>
            <a:r>
              <a:rPr lang="en-US" dirty="0" err="1"/>
              <a:t>دیگر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اعضای</a:t>
            </a:r>
            <a:r>
              <a:rPr lang="en-US" dirty="0"/>
              <a:t> </a:t>
            </a:r>
            <a:r>
              <a:rPr lang="en-US" dirty="0" err="1"/>
              <a:t>خانواده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نیروهای</a:t>
            </a:r>
            <a:r>
              <a:rPr lang="en-US" dirty="0"/>
              <a:t> </a:t>
            </a:r>
            <a:r>
              <a:rPr lang="en-US" dirty="0" err="1"/>
              <a:t>مراقب</a:t>
            </a:r>
            <a:r>
              <a:rPr lang="en-US" dirty="0"/>
              <a:t> </a:t>
            </a:r>
            <a:r>
              <a:rPr lang="en-US" dirty="0" err="1"/>
              <a:t>وابسته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همیشه</a:t>
            </a:r>
            <a:r>
              <a:rPr lang="en-US" dirty="0"/>
              <a:t> </a:t>
            </a:r>
            <a:r>
              <a:rPr lang="en-US" dirty="0" err="1"/>
              <a:t>امکان‌پذیر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پایدار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نشان</a:t>
            </a:r>
            <a:r>
              <a:rPr lang="en-US" dirty="0"/>
              <a:t> </a:t>
            </a:r>
            <a:r>
              <a:rPr lang="en-US" dirty="0" err="1"/>
              <a:t>داد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دسترسی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،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راهکار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،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و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فرد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شرایط</a:t>
            </a:r>
            <a:r>
              <a:rPr lang="en-US" dirty="0"/>
              <a:t> </a:t>
            </a:r>
            <a:r>
              <a:rPr lang="en-US" dirty="0" err="1"/>
              <a:t>خاص</a:t>
            </a:r>
            <a:r>
              <a:rPr lang="en-US" dirty="0"/>
              <a:t> </a:t>
            </a:r>
            <a:r>
              <a:rPr lang="en-US" dirty="0" err="1"/>
              <a:t>اوست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685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EF74C-DDBB-DF1A-266D-FA7AFEE32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F061B3-DBA4-DD1A-DB44-0185801E39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Our Solution</a:t>
            </a:r>
          </a:p>
          <a:p>
            <a:r>
              <a:rPr lang="en-US" b="1" dirty="0"/>
              <a:t>GINKOVA: An Intelligent Nutrition &amp; Health Ecosystem</a:t>
            </a:r>
          </a:p>
          <a:p>
            <a:r>
              <a:rPr lang="en-US" dirty="0"/>
              <a:t>We connect:</a:t>
            </a:r>
          </a:p>
          <a:p>
            <a:r>
              <a:rPr lang="en-US" dirty="0"/>
              <a:t>🥗 Healthy Food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🧠 Artificial Intelligence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❤️ Personalized Health Insights</a:t>
            </a:r>
          </a:p>
          <a:p>
            <a:r>
              <a:rPr lang="en-US" dirty="0"/>
              <a:t>to help people make better nutrition decisions.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With GINKOVA, users can:</a:t>
            </a:r>
          </a:p>
          <a:p>
            <a:r>
              <a:rPr lang="en-US" dirty="0"/>
              <a:t>✓ Discover suitable meals based on their health goals</a:t>
            </a:r>
            <a:br>
              <a:rPr lang="en-US" dirty="0"/>
            </a:br>
            <a:r>
              <a:rPr lang="en-US" dirty="0"/>
              <a:t>✓ Understand exactly what they eat</a:t>
            </a:r>
            <a:br>
              <a:rPr lang="en-US" dirty="0"/>
            </a:br>
            <a:r>
              <a:rPr lang="en-US" dirty="0"/>
              <a:t>✓ Receive personalized nutrition recommendations</a:t>
            </a:r>
            <a:br>
              <a:rPr lang="en-US" dirty="0"/>
            </a:br>
            <a:r>
              <a:rPr lang="en-US" dirty="0"/>
              <a:t>✓ Build healthier habits over time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Food is our starting point.</a:t>
            </a:r>
          </a:p>
          <a:p>
            <a:r>
              <a:rPr lang="en-US" b="1" dirty="0"/>
              <a:t>Personalized health intelligence is our destination.</a:t>
            </a:r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362CD481-8F43-CC75-7788-807EDBDD02DF}"/>
              </a:ext>
            </a:extLst>
          </p:cNvPr>
          <p:cNvSpPr/>
          <p:nvPr/>
        </p:nvSpPr>
        <p:spPr>
          <a:xfrm>
            <a:off x="241540" y="109268"/>
            <a:ext cx="1955320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4</a:t>
            </a:r>
            <a:endParaRPr lang="en-US" b="1" dirty="0"/>
          </a:p>
          <a:p>
            <a:pPr algn="ctr"/>
            <a:r>
              <a:rPr lang="en-US" b="1" dirty="0"/>
              <a:t>Our Solution</a:t>
            </a:r>
          </a:p>
        </p:txBody>
      </p:sp>
    </p:spTree>
    <p:extLst>
      <p:ext uri="{BB962C8B-B14F-4D97-AF65-F5344CB8AC3E}">
        <p14:creationId xmlns:p14="http://schemas.microsoft.com/office/powerpoint/2010/main" val="3953725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B23CE-6231-D345-643C-02B82F86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ACDC33-31B0-C192-D94A-007BDC66F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At GINKOVA, we believe the solution is not simply delivering healthier meals.</a:t>
            </a:r>
          </a:p>
          <a:p>
            <a:pPr algn="l"/>
            <a:r>
              <a:rPr lang="en-US" dirty="0"/>
              <a:t>The real solution is helping people make better health decisions every day.</a:t>
            </a:r>
          </a:p>
          <a:p>
            <a:pPr algn="l"/>
            <a:r>
              <a:rPr lang="en-US" dirty="0"/>
              <a:t>We are building an intelligent nutrition and health ecosystem that connects healthy food, artificial intelligence, and personalized health insights.</a:t>
            </a:r>
          </a:p>
          <a:p>
            <a:pPr algn="l"/>
            <a:r>
              <a:rPr lang="en-US" dirty="0"/>
              <a:t>Users can understand what they eat, discover meals that better match their needs, and gradually build healthier habits.</a:t>
            </a:r>
          </a:p>
          <a:p>
            <a:pPr algn="l"/>
            <a:r>
              <a:rPr lang="en-US" dirty="0"/>
              <a:t>Our first product is personalized healthy meals, but our long-term vision is much bigger.</a:t>
            </a:r>
          </a:p>
          <a:p>
            <a:pPr algn="l"/>
            <a:r>
              <a:rPr lang="en-US" dirty="0"/>
              <a:t>Food is our starting point. Personalized health intelligence is our destination.</a:t>
            </a:r>
          </a:p>
          <a:p>
            <a:endParaRPr lang="en-US" b="1" dirty="0"/>
          </a:p>
          <a:p>
            <a:pPr algn="r" rtl="1"/>
            <a:r>
              <a:rPr lang="en-US" dirty="0" err="1"/>
              <a:t>در</a:t>
            </a:r>
            <a:r>
              <a:rPr lang="en-US" dirty="0"/>
              <a:t> GINKOVA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معتقدیم</a:t>
            </a:r>
            <a:r>
              <a:rPr lang="en-US" dirty="0"/>
              <a:t> </a:t>
            </a:r>
            <a:r>
              <a:rPr lang="en-US" dirty="0" err="1"/>
              <a:t>راه‌حل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رساندن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دست</a:t>
            </a:r>
            <a:r>
              <a:rPr lang="en-US" dirty="0"/>
              <a:t> </a:t>
            </a:r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راه‌حل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بهتری</a:t>
            </a:r>
            <a:r>
              <a:rPr lang="en-US" dirty="0"/>
              <a:t> </a:t>
            </a:r>
            <a:r>
              <a:rPr lang="en-US" dirty="0" err="1"/>
              <a:t>درباره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هستیم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،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و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یکدیگر</a:t>
            </a:r>
            <a:r>
              <a:rPr lang="en-US" dirty="0"/>
              <a:t> </a:t>
            </a:r>
            <a:r>
              <a:rPr lang="en-US" dirty="0" err="1"/>
              <a:t>متصل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، </a:t>
            </a:r>
            <a:r>
              <a:rPr lang="en-US" dirty="0" err="1"/>
              <a:t>غذاهایی</a:t>
            </a:r>
            <a:r>
              <a:rPr lang="en-US" dirty="0"/>
              <a:t> </a:t>
            </a:r>
            <a:r>
              <a:rPr lang="en-US" dirty="0" err="1"/>
              <a:t>متناسب‌تر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شرایط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و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عادت‌های</a:t>
            </a:r>
            <a:r>
              <a:rPr lang="en-US" dirty="0"/>
              <a:t> </a:t>
            </a:r>
            <a:r>
              <a:rPr lang="en-US" dirty="0" err="1"/>
              <a:t>سالم‌تری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؛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مقصد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انسان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  <a:endParaRPr lang="fa-IR" dirty="0"/>
          </a:p>
          <a:p>
            <a:pPr algn="r" rtl="1"/>
            <a:endParaRPr lang="en-US" dirty="0"/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سرویس‌های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موجود</a:t>
            </a:r>
            <a:r>
              <a:rPr lang="en-US" dirty="0"/>
              <a:t> </a:t>
            </a:r>
            <a:r>
              <a:rPr lang="en-US" dirty="0" err="1"/>
              <a:t>متفاوت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؟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دهید</a:t>
            </a:r>
            <a:r>
              <a:rPr lang="en-US" dirty="0"/>
              <a:t> </a:t>
            </a:r>
            <a:r>
              <a:rPr lang="en-US" dirty="0" err="1"/>
              <a:t>رویکرد</a:t>
            </a:r>
            <a:r>
              <a:rPr lang="en-US" dirty="0"/>
              <a:t> </a:t>
            </a:r>
            <a:r>
              <a:rPr lang="en-US" dirty="0" err="1"/>
              <a:t>منحصربه‌فرد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بررسی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921996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1689B-A28A-611C-85A9-9D474508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F3EC-4FDC-1564-A475-6F1BC28194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Solution &amp; Product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384B69C6-C050-0F19-1342-9F06D43921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9280E61-AB96-3FA7-FEC2-D5C05698A338}"/>
              </a:ext>
            </a:extLst>
          </p:cNvPr>
          <p:cNvSpPr txBox="1">
            <a:spLocks/>
          </p:cNvSpPr>
          <p:nvPr/>
        </p:nvSpPr>
        <p:spPr>
          <a:xfrm>
            <a:off x="113128" y="3604911"/>
            <a:ext cx="12030891" cy="26485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/>
          </a:p>
          <a:p>
            <a:r>
              <a:rPr lang="en-US" b="1"/>
              <a:t>Smart AI Ssytems LLC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226153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0FE6A-B113-6EFC-7D17-B1149FC84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232E79D-C322-FF91-054C-E1130EE6C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63379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Why GINKOVA Is Different?</a:t>
            </a:r>
          </a:p>
          <a:p>
            <a:r>
              <a:rPr lang="en-US" b="1" dirty="0"/>
              <a:t>A Restaurant Sells Food.</a:t>
            </a:r>
          </a:p>
          <a:p>
            <a:r>
              <a:rPr lang="en-US" b="1" dirty="0"/>
              <a:t>GINKOVA Builds Health Intelligence.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Traditional Food Services:</a:t>
            </a:r>
          </a:p>
          <a:p>
            <a:r>
              <a:rPr lang="en-US" dirty="0"/>
              <a:t>❌ Focus on taste, price, and delivery speed</a:t>
            </a:r>
            <a:br>
              <a:rPr lang="en-US" dirty="0"/>
            </a:br>
            <a:r>
              <a:rPr lang="en-US" dirty="0"/>
              <a:t>❌ Same meals for everyone</a:t>
            </a:r>
            <a:br>
              <a:rPr lang="en-US" dirty="0"/>
            </a:br>
            <a:r>
              <a:rPr lang="en-US" dirty="0"/>
              <a:t>❌ Limited nutritional transparency</a:t>
            </a:r>
            <a:br>
              <a:rPr lang="en-US" dirty="0"/>
            </a:br>
            <a:r>
              <a:rPr lang="en-US" dirty="0"/>
              <a:t>❌ No understanding of individual health needs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GINKOVA:</a:t>
            </a:r>
          </a:p>
          <a:p>
            <a:r>
              <a:rPr lang="en-US" dirty="0"/>
              <a:t>✅ Personalized nutrition experience</a:t>
            </a:r>
            <a:br>
              <a:rPr lang="en-US" dirty="0"/>
            </a:br>
            <a:r>
              <a:rPr lang="en-US" dirty="0"/>
              <a:t>✅ Transparent food information</a:t>
            </a:r>
            <a:br>
              <a:rPr lang="en-US" dirty="0"/>
            </a:br>
            <a:r>
              <a:rPr lang="en-US" dirty="0"/>
              <a:t>✅ Health-aware meal recommendations</a:t>
            </a:r>
            <a:br>
              <a:rPr lang="en-US" dirty="0"/>
            </a:br>
            <a:r>
              <a:rPr lang="en-US" dirty="0"/>
              <a:t>✅ AI-powered future health intelligence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We don't just deliver meals.</a:t>
            </a:r>
          </a:p>
          <a:p>
            <a:r>
              <a:rPr lang="en-US" b="1" dirty="0"/>
              <a:t>We deliver better health decisions.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 understand why GINKOVA is different, let's look at our first product and how users experience it.</a:t>
            </a:r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9401B536-20EE-DFDF-C3ED-EA213D4D6731}"/>
              </a:ext>
            </a:extLst>
          </p:cNvPr>
          <p:cNvSpPr/>
          <p:nvPr/>
        </p:nvSpPr>
        <p:spPr>
          <a:xfrm>
            <a:off x="241539" y="109268"/>
            <a:ext cx="2248619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5</a:t>
            </a:r>
            <a:endParaRPr lang="en-US" b="1" dirty="0"/>
          </a:p>
          <a:p>
            <a:pPr algn="ctr"/>
            <a:r>
              <a:rPr lang="en-US" b="1" dirty="0"/>
              <a:t>Why GINKOVA Is Different</a:t>
            </a:r>
          </a:p>
        </p:txBody>
      </p:sp>
    </p:spTree>
    <p:extLst>
      <p:ext uri="{BB962C8B-B14F-4D97-AF65-F5344CB8AC3E}">
        <p14:creationId xmlns:p14="http://schemas.microsoft.com/office/powerpoint/2010/main" val="27822272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D874F-BBBB-FC54-BA15-DC7C198CB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C4FDD6-0DA5-2602-B050-01A3C4579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337500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One of the most important questions is: what makes GINKOVA different from existing healthy food services?</a:t>
            </a:r>
          </a:p>
          <a:p>
            <a:pPr algn="l"/>
            <a:r>
              <a:rPr lang="en-US" dirty="0"/>
              <a:t>The answer is simple:</a:t>
            </a:r>
          </a:p>
          <a:p>
            <a:pPr algn="l"/>
            <a:r>
              <a:rPr lang="en-US" dirty="0"/>
              <a:t>A restaurant provides meals. GINKOVA builds health intelligence around nutrition.</a:t>
            </a:r>
          </a:p>
          <a:p>
            <a:pPr algn="l"/>
            <a:r>
              <a:rPr lang="en-US" dirty="0"/>
              <a:t>Traditional food businesses usually focus on taste, price, and delivery speed. These are important, but they do not answer the most important question for many people:</a:t>
            </a:r>
          </a:p>
          <a:p>
            <a:pPr algn="l"/>
            <a:r>
              <a:rPr lang="en-US" dirty="0"/>
              <a:t>"Is this food right for me?"</a:t>
            </a:r>
          </a:p>
          <a:p>
            <a:pPr algn="l"/>
            <a:r>
              <a:rPr lang="en-US" dirty="0"/>
              <a:t>GINKOVA focuses on personalization and transparency.</a:t>
            </a:r>
          </a:p>
          <a:p>
            <a:pPr algn="l"/>
            <a:r>
              <a:rPr lang="en-US" dirty="0"/>
              <a:t>We help users understand what they eat and gradually provide smarter recommendations based on their health goals and preferences.</a:t>
            </a:r>
          </a:p>
          <a:p>
            <a:pPr algn="l"/>
            <a:r>
              <a:rPr lang="en-US" dirty="0"/>
              <a:t>Our long-term advantage is not only the food itself, but the intelligence layer built around food, health data, and user behavior.</a:t>
            </a:r>
          </a:p>
          <a:p>
            <a:endParaRPr lang="en-US" dirty="0"/>
          </a:p>
          <a:p>
            <a:pPr algn="r" rtl="1"/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مهم‌ترین</a:t>
            </a:r>
            <a:r>
              <a:rPr lang="en-US" dirty="0"/>
              <a:t> </a:t>
            </a:r>
            <a:r>
              <a:rPr lang="en-US" dirty="0" err="1"/>
              <a:t>سؤال‌ها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سرویس‌های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موجود</a:t>
            </a:r>
            <a:r>
              <a:rPr lang="en-US" dirty="0"/>
              <a:t> </a:t>
            </a:r>
            <a:r>
              <a:rPr lang="en-US" dirty="0" err="1"/>
              <a:t>متفاوت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؟</a:t>
            </a:r>
          </a:p>
          <a:p>
            <a:pPr algn="r" rtl="1"/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رستوران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GINKOVA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حوزه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کسب‌وکارهای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سنتی</a:t>
            </a:r>
            <a:r>
              <a:rPr lang="en-US" dirty="0"/>
              <a:t> </a:t>
            </a:r>
            <a:r>
              <a:rPr lang="en-US" dirty="0" err="1"/>
              <a:t>معمولاً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طعم</a:t>
            </a:r>
            <a:r>
              <a:rPr lang="en-US" dirty="0"/>
              <a:t>، </a:t>
            </a:r>
            <a:r>
              <a:rPr lang="en-US" dirty="0" err="1"/>
              <a:t>قیمت</a:t>
            </a:r>
            <a:r>
              <a:rPr lang="en-US" dirty="0"/>
              <a:t> و </a:t>
            </a:r>
            <a:r>
              <a:rPr lang="en-US" dirty="0" err="1"/>
              <a:t>سرعت</a:t>
            </a:r>
            <a:r>
              <a:rPr lang="en-US" dirty="0"/>
              <a:t> </a:t>
            </a:r>
            <a:r>
              <a:rPr lang="en-US" dirty="0" err="1"/>
              <a:t>ارسال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موارد</a:t>
            </a:r>
            <a:r>
              <a:rPr lang="en-US" dirty="0"/>
              <a:t> </a:t>
            </a:r>
            <a:r>
              <a:rPr lang="en-US" dirty="0" err="1"/>
              <a:t>مهم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مهم‌ترین</a:t>
            </a:r>
            <a:r>
              <a:rPr lang="en-US" dirty="0"/>
              <a:t> </a:t>
            </a:r>
            <a:r>
              <a:rPr lang="en-US" dirty="0" err="1"/>
              <a:t>سؤال</a:t>
            </a:r>
            <a:r>
              <a:rPr lang="en-US" dirty="0"/>
              <a:t> </a:t>
            </a:r>
            <a:r>
              <a:rPr lang="en-US" dirty="0" err="1"/>
              <a:t>بسیاری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پاسخ</a:t>
            </a:r>
            <a:r>
              <a:rPr lang="en-US" dirty="0"/>
              <a:t> </a:t>
            </a:r>
            <a:r>
              <a:rPr lang="en-US" dirty="0" err="1"/>
              <a:t>نمی‌دهند</a:t>
            </a:r>
            <a:r>
              <a:rPr lang="en-US" dirty="0"/>
              <a:t>:</a:t>
            </a:r>
          </a:p>
          <a:p>
            <a:pPr algn="r" rtl="1"/>
            <a:r>
              <a:rPr lang="en-US" dirty="0"/>
              <a:t>«</a:t>
            </a:r>
            <a:r>
              <a:rPr lang="en-US" dirty="0" err="1"/>
              <a:t>آیا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من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؟»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شخصی‌سازی</a:t>
            </a:r>
            <a:r>
              <a:rPr lang="en-US" dirty="0"/>
              <a:t> و </a:t>
            </a:r>
            <a:r>
              <a:rPr lang="en-US" dirty="0" err="1"/>
              <a:t>شفافیت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 و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طول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،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هوشمندتری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اساس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ترجیحات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دهیم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مزیت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 </a:t>
            </a:r>
            <a:r>
              <a:rPr lang="en-US" dirty="0" err="1"/>
              <a:t>بلکه</a:t>
            </a:r>
            <a:r>
              <a:rPr lang="en-US" dirty="0"/>
              <a:t> </a:t>
            </a:r>
            <a:r>
              <a:rPr lang="en-US" dirty="0" err="1"/>
              <a:t>لایه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،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رفتار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ساخته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2843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0F4C-F2C1-C859-3903-66C987CE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0A32865-E424-5C78-D1AA-B71159DE8E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Our First Product</a:t>
            </a:r>
          </a:p>
          <a:p>
            <a:r>
              <a:rPr lang="en-US" b="1" dirty="0"/>
              <a:t>Personalized Healthy Meals with Nutrition Intelligence</a:t>
            </a:r>
          </a:p>
          <a:p>
            <a:r>
              <a:rPr lang="en-US" dirty="0"/>
              <a:t>GINKOVA starts with a simple experience:</a:t>
            </a:r>
          </a:p>
          <a:p>
            <a:r>
              <a:rPr lang="en-US" dirty="0"/>
              <a:t>🥗 Healthy meals designed for specific health goals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📊 Transparent nutritional information</a:t>
            </a:r>
            <a:br>
              <a:rPr lang="en-US" dirty="0"/>
            </a:br>
            <a:r>
              <a:rPr lang="en-US" dirty="0"/>
              <a:t>+</a:t>
            </a:r>
            <a:br>
              <a:rPr lang="en-US" dirty="0"/>
            </a:br>
            <a:r>
              <a:rPr lang="en-US" dirty="0"/>
              <a:t>🧠 Smart recommendations based on user needs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Every meal provides:</a:t>
            </a:r>
          </a:p>
          <a:p>
            <a:r>
              <a:rPr lang="en-US" dirty="0"/>
              <a:t>✓ Ingredients transparency</a:t>
            </a:r>
            <a:br>
              <a:rPr lang="en-US" dirty="0"/>
            </a:br>
            <a:r>
              <a:rPr lang="en-US" dirty="0"/>
              <a:t>✓ Calories &amp; nutritional values</a:t>
            </a:r>
            <a:br>
              <a:rPr lang="en-US" dirty="0"/>
            </a:br>
            <a:r>
              <a:rPr lang="en-US" dirty="0"/>
              <a:t>✓ Suitable health categories</a:t>
            </a:r>
            <a:br>
              <a:rPr lang="en-US" dirty="0"/>
            </a:br>
            <a:r>
              <a:rPr lang="en-US" dirty="0"/>
              <a:t>✓ Personalized meal suggestions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Start with food.</a:t>
            </a:r>
          </a:p>
          <a:p>
            <a:r>
              <a:rPr lang="en-US" b="1" dirty="0"/>
              <a:t>Scale into intelligent health.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A great product is not only about what we offer, but also about who needs it most. Let's look at our target customers.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A0334F39-30DF-02AB-36AD-EB0606689235}"/>
              </a:ext>
            </a:extLst>
          </p:cNvPr>
          <p:cNvSpPr/>
          <p:nvPr/>
        </p:nvSpPr>
        <p:spPr>
          <a:xfrm>
            <a:off x="218536" y="109268"/>
            <a:ext cx="2610928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6</a:t>
            </a:r>
            <a:endParaRPr lang="en-US" b="1" dirty="0"/>
          </a:p>
          <a:p>
            <a:pPr algn="ctr"/>
            <a:r>
              <a:rPr lang="en-US" b="1" dirty="0"/>
              <a:t>Our First Product</a:t>
            </a:r>
          </a:p>
        </p:txBody>
      </p:sp>
    </p:spTree>
    <p:extLst>
      <p:ext uri="{BB962C8B-B14F-4D97-AF65-F5344CB8AC3E}">
        <p14:creationId xmlns:p14="http://schemas.microsoft.com/office/powerpoint/2010/main" val="1872238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881A3-64E0-6FA6-685F-C42E55F74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A8AC69-302E-B526-D5E6-DA20EBA5A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Our first product is intentionally simple and practical.</a:t>
            </a:r>
          </a:p>
          <a:p>
            <a:pPr algn="l"/>
            <a:r>
              <a:rPr lang="en-US" dirty="0"/>
              <a:t>We start with something people need every day: food.</a:t>
            </a:r>
          </a:p>
          <a:p>
            <a:pPr algn="l"/>
            <a:r>
              <a:rPr lang="en-US" dirty="0"/>
              <a:t>But unlike traditional meal services, every GINKOVA meal is designed with health intelligence in mind.</a:t>
            </a:r>
          </a:p>
          <a:p>
            <a:pPr algn="l"/>
            <a:r>
              <a:rPr lang="en-US" dirty="0"/>
              <a:t>Users can understand exactly what they are eating, including ingredients and nutritional information.</a:t>
            </a:r>
          </a:p>
          <a:p>
            <a:pPr algn="l"/>
            <a:r>
              <a:rPr lang="en-US" dirty="0"/>
              <a:t>They can discover meals that better match their health goals, such as diabetes management support, weight control, or healthy aging.</a:t>
            </a:r>
          </a:p>
          <a:p>
            <a:pPr algn="l"/>
            <a:r>
              <a:rPr lang="en-US" dirty="0"/>
              <a:t>This allows us to solve an immediate problem today while building the foundation for a much larger intelligent health ecosystem in the future.</a:t>
            </a:r>
          </a:p>
          <a:p>
            <a:endParaRPr lang="fa-IR" b="1" dirty="0"/>
          </a:p>
          <a:p>
            <a:pPr algn="r" rtl="1"/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عمداً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و </a:t>
            </a:r>
            <a:r>
              <a:rPr lang="en-US" dirty="0" err="1"/>
              <a:t>عملی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انسان‌ها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: </a:t>
            </a:r>
            <a:r>
              <a:rPr lang="en-US" dirty="0" err="1"/>
              <a:t>غذا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برخلاف</a:t>
            </a:r>
            <a:r>
              <a:rPr lang="en-US" dirty="0"/>
              <a:t> </a:t>
            </a:r>
            <a:r>
              <a:rPr lang="en-US" dirty="0" err="1"/>
              <a:t>سرویس‌های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 </a:t>
            </a:r>
            <a:r>
              <a:rPr lang="en-US" dirty="0" err="1"/>
              <a:t>سنتی</a:t>
            </a:r>
            <a:r>
              <a:rPr lang="en-US" dirty="0"/>
              <a:t>،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وعده</a:t>
            </a:r>
            <a:r>
              <a:rPr lang="en-US" dirty="0"/>
              <a:t> GINKOVA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نگاه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طراحی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؛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مواد</a:t>
            </a:r>
            <a:r>
              <a:rPr lang="en-US" dirty="0"/>
              <a:t> </a:t>
            </a:r>
            <a:r>
              <a:rPr lang="en-US" dirty="0" err="1"/>
              <a:t>تشکیل‌دهنده</a:t>
            </a:r>
            <a:r>
              <a:rPr lang="en-US" dirty="0"/>
              <a:t> </a:t>
            </a:r>
            <a:r>
              <a:rPr lang="en-US" dirty="0" err="1"/>
              <a:t>گرفته</a:t>
            </a:r>
            <a:r>
              <a:rPr lang="en-US" dirty="0"/>
              <a:t> </a:t>
            </a:r>
            <a:r>
              <a:rPr lang="en-US" dirty="0" err="1"/>
              <a:t>تا</a:t>
            </a:r>
            <a:r>
              <a:rPr lang="en-US" dirty="0"/>
              <a:t>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غذایی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غذاهایی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سلامتشان</a:t>
            </a:r>
            <a:r>
              <a:rPr lang="en-US" dirty="0"/>
              <a:t> </a:t>
            </a:r>
            <a:r>
              <a:rPr lang="en-US" dirty="0" err="1"/>
              <a:t>هماهنگ‌تر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؛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کنترل</a:t>
            </a:r>
            <a:r>
              <a:rPr lang="en-US" dirty="0"/>
              <a:t> </a:t>
            </a:r>
            <a:r>
              <a:rPr lang="en-US" dirty="0" err="1"/>
              <a:t>وزن</a:t>
            </a:r>
            <a:r>
              <a:rPr lang="en-US" dirty="0"/>
              <a:t> </a:t>
            </a:r>
            <a:r>
              <a:rPr lang="en-US" dirty="0" err="1"/>
              <a:t>یا</a:t>
            </a:r>
            <a:r>
              <a:rPr lang="en-US" dirty="0"/>
              <a:t> </a:t>
            </a:r>
            <a:r>
              <a:rPr lang="en-US" dirty="0" err="1"/>
              <a:t>سالمندی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رویکرد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فوری</a:t>
            </a:r>
            <a:r>
              <a:rPr lang="en-US" dirty="0"/>
              <a:t> </a:t>
            </a:r>
            <a:r>
              <a:rPr lang="en-US" dirty="0" err="1"/>
              <a:t>امروز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حل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 و </a:t>
            </a:r>
            <a:r>
              <a:rPr lang="en-US" dirty="0" err="1"/>
              <a:t>همزمان</a:t>
            </a:r>
            <a:r>
              <a:rPr lang="en-US" dirty="0"/>
              <a:t> </a:t>
            </a:r>
            <a:r>
              <a:rPr lang="en-US" dirty="0" err="1"/>
              <a:t>پایه‌های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هوشمند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بسازیم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4183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0DA5F-47FF-CEEA-999F-19924D6E0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43CC08-564B-51E9-35B4-7C54DFA0D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A Simple Experience. A Smarter Health Journey.</a:t>
            </a:r>
          </a:p>
          <a:p>
            <a:r>
              <a:rPr lang="en-US" dirty="0"/>
              <a:t>With GINKOVA, users can:</a:t>
            </a:r>
          </a:p>
          <a:p>
            <a:r>
              <a:rPr lang="en-US" b="1" dirty="0"/>
              <a:t>1. Discover</a:t>
            </a:r>
          </a:p>
          <a:p>
            <a:r>
              <a:rPr lang="en-US" dirty="0"/>
              <a:t>Find meals based on their health goals and preferences.</a:t>
            </a:r>
          </a:p>
          <a:p>
            <a:r>
              <a:rPr lang="en-US" b="1" dirty="0"/>
              <a:t>2. Understand</a:t>
            </a:r>
          </a:p>
          <a:p>
            <a:r>
              <a:rPr lang="en-US" dirty="0"/>
              <a:t>See ingredients, nutrition facts, and health-related information.</a:t>
            </a:r>
          </a:p>
          <a:p>
            <a:r>
              <a:rPr lang="en-US" b="1" dirty="0"/>
              <a:t>3. Personalize</a:t>
            </a:r>
          </a:p>
          <a:p>
            <a:r>
              <a:rPr lang="en-US" dirty="0"/>
              <a:t>Receive recommendations based on their needs and lifestyle.</a:t>
            </a:r>
          </a:p>
          <a:p>
            <a:r>
              <a:rPr lang="en-US" b="1" dirty="0"/>
              <a:t>4. Improve</a:t>
            </a:r>
          </a:p>
          <a:p>
            <a:r>
              <a:rPr lang="en-US" dirty="0"/>
              <a:t>Build healthier eating habits over time.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From choosing a meal</a:t>
            </a:r>
          </a:p>
          <a:p>
            <a:r>
              <a:rPr lang="en-US" b="1" dirty="0"/>
              <a:t>To making a better health decision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 understand the user experience, let's look at who needs GINKOVA the most and where we will start.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420DBFAC-9271-D1F1-FCE7-9E76A239FD9D}"/>
              </a:ext>
            </a:extLst>
          </p:cNvPr>
          <p:cNvSpPr/>
          <p:nvPr/>
        </p:nvSpPr>
        <p:spPr>
          <a:xfrm>
            <a:off x="241539" y="109268"/>
            <a:ext cx="2777706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7</a:t>
            </a:r>
            <a:endParaRPr lang="en-US" b="1" dirty="0"/>
          </a:p>
          <a:p>
            <a:pPr algn="ctr"/>
            <a:r>
              <a:rPr lang="en-US" b="1" dirty="0"/>
              <a:t>User Experience &amp;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419000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AB94A-629F-C08E-E301-7D18A9716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A296586-8708-CB04-FCAA-6FE7A4E464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One of the key principles behind GINKOVA is simplicity.</a:t>
            </a:r>
          </a:p>
          <a:p>
            <a:pPr algn="l"/>
            <a:r>
              <a:rPr lang="en-US" dirty="0"/>
              <a:t>We don't want users to feel that they are entering a complicated medical system.</a:t>
            </a:r>
          </a:p>
          <a:p>
            <a:pPr algn="l"/>
            <a:r>
              <a:rPr lang="en-US" dirty="0"/>
              <a:t>The experience should be as easy as ordering food, but much smarter.</a:t>
            </a:r>
          </a:p>
          <a:p>
            <a:pPr algn="l"/>
            <a:r>
              <a:rPr lang="en-US" dirty="0"/>
              <a:t>Users can discover meals that match their health goals, understand exactly what they are eating, and gradually receive more personalized recommendations.</a:t>
            </a:r>
          </a:p>
          <a:p>
            <a:pPr algn="l"/>
            <a:r>
              <a:rPr lang="en-US" dirty="0"/>
              <a:t>Over time, GINKOVA becomes more valuable because it learns from user preferences and creates a more personalized nutrition journey.</a:t>
            </a:r>
          </a:p>
          <a:p>
            <a:pPr algn="l"/>
            <a:r>
              <a:rPr lang="en-US" dirty="0"/>
              <a:t>Our goal is not to make food selection complicated.</a:t>
            </a:r>
          </a:p>
          <a:p>
            <a:pPr algn="l"/>
            <a:r>
              <a:rPr lang="en-US" dirty="0"/>
              <a:t>Our goal is to make healthy decisions easier.</a:t>
            </a:r>
          </a:p>
          <a:p>
            <a:br>
              <a:rPr lang="en-US" dirty="0"/>
            </a:br>
            <a:endParaRPr lang="en-US" dirty="0"/>
          </a:p>
          <a:p>
            <a:pPr algn="r" rtl="1"/>
            <a:r>
              <a:rPr lang="en-US" b="1" dirty="0"/>
              <a:t>5) 🎤 </a:t>
            </a:r>
            <a:r>
              <a:rPr lang="en-US" b="1" dirty="0" err="1"/>
              <a:t>یادداشت</a:t>
            </a:r>
            <a:r>
              <a:rPr lang="en-US" b="1" dirty="0"/>
              <a:t> </a:t>
            </a:r>
            <a:r>
              <a:rPr lang="en-US" b="1" dirty="0" err="1"/>
              <a:t>سخنران</a:t>
            </a:r>
            <a:r>
              <a:rPr lang="en-US" b="1" dirty="0"/>
              <a:t> (</a:t>
            </a:r>
            <a:r>
              <a:rPr lang="en-US" b="1" dirty="0" err="1"/>
              <a:t>فارسی</a:t>
            </a:r>
            <a:r>
              <a:rPr lang="en-US" b="1" dirty="0"/>
              <a:t>)</a:t>
            </a:r>
          </a:p>
          <a:p>
            <a:pPr algn="r" rtl="1"/>
            <a:r>
              <a:rPr lang="en-US" dirty="0" err="1"/>
              <a:t>یکی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اصول</a:t>
            </a:r>
            <a:r>
              <a:rPr lang="en-US" dirty="0"/>
              <a:t> </a:t>
            </a:r>
            <a:r>
              <a:rPr lang="en-US" dirty="0" err="1"/>
              <a:t>اصلی</a:t>
            </a:r>
            <a:r>
              <a:rPr lang="en-US" dirty="0"/>
              <a:t> GINKOVA </a:t>
            </a:r>
            <a:r>
              <a:rPr lang="en-US" dirty="0" err="1"/>
              <a:t>سادگی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نمی‌خواهیم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احساس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 </a:t>
            </a:r>
            <a:r>
              <a:rPr lang="en-US" dirty="0" err="1"/>
              <a:t>وارد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سیستم</a:t>
            </a:r>
            <a:r>
              <a:rPr lang="en-US" dirty="0"/>
              <a:t> </a:t>
            </a:r>
            <a:r>
              <a:rPr lang="en-US" dirty="0" err="1"/>
              <a:t>پزشکی</a:t>
            </a:r>
            <a:r>
              <a:rPr lang="en-US" dirty="0"/>
              <a:t> </a:t>
            </a:r>
            <a:r>
              <a:rPr lang="en-US" dirty="0" err="1"/>
              <a:t>پیچیده</a:t>
            </a:r>
            <a:r>
              <a:rPr lang="en-US" dirty="0"/>
              <a:t> </a:t>
            </a:r>
            <a:r>
              <a:rPr lang="en-US" dirty="0" err="1"/>
              <a:t>شده‌اند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سادگی</a:t>
            </a:r>
            <a:r>
              <a:rPr lang="en-US" dirty="0"/>
              <a:t> </a:t>
            </a:r>
            <a:r>
              <a:rPr lang="en-US" dirty="0" err="1"/>
              <a:t>سفارش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باشد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بیشتر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می‌توانند</a:t>
            </a:r>
            <a:r>
              <a:rPr lang="en-US" dirty="0"/>
              <a:t> </a:t>
            </a:r>
            <a:r>
              <a:rPr lang="en-US" dirty="0" err="1"/>
              <a:t>غذاهای</a:t>
            </a:r>
            <a:r>
              <a:rPr lang="en-US" dirty="0"/>
              <a:t> </a:t>
            </a:r>
            <a:r>
              <a:rPr lang="en-US" dirty="0" err="1"/>
              <a:t>مناسب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اهداف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،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بدانند</a:t>
            </a:r>
            <a:r>
              <a:rPr lang="en-US" dirty="0"/>
              <a:t> </a:t>
            </a:r>
            <a:r>
              <a:rPr lang="en-US" dirty="0" err="1"/>
              <a:t>چه</a:t>
            </a:r>
            <a:r>
              <a:rPr lang="en-US" dirty="0"/>
              <a:t> </a:t>
            </a:r>
            <a:r>
              <a:rPr lang="en-US" dirty="0" err="1"/>
              <a:t>چیزی</a:t>
            </a:r>
            <a:r>
              <a:rPr lang="en-US" dirty="0"/>
              <a:t> </a:t>
            </a:r>
            <a:r>
              <a:rPr lang="en-US" dirty="0" err="1"/>
              <a:t>مصرف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 و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مرور</a:t>
            </a:r>
            <a:r>
              <a:rPr lang="en-US" dirty="0"/>
              <a:t>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شخصی‌سازی‌شده‌تری</a:t>
            </a:r>
            <a:r>
              <a:rPr lang="en-US" dirty="0"/>
              <a:t> </a:t>
            </a:r>
            <a:r>
              <a:rPr lang="en-US" dirty="0" err="1"/>
              <a:t>دریافت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گذشت</a:t>
            </a:r>
            <a:r>
              <a:rPr lang="en-US" dirty="0"/>
              <a:t> </a:t>
            </a:r>
            <a:r>
              <a:rPr lang="en-US" dirty="0" err="1"/>
              <a:t>زمان</a:t>
            </a:r>
            <a:r>
              <a:rPr lang="en-US" dirty="0"/>
              <a:t>، </a:t>
            </a:r>
            <a:r>
              <a:rPr lang="en-US" dirty="0" err="1"/>
              <a:t>ارزش</a:t>
            </a:r>
            <a:r>
              <a:rPr lang="en-US" dirty="0"/>
              <a:t> GINKOVA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، </a:t>
            </a:r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سیستم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ترجیحات</a:t>
            </a:r>
            <a:r>
              <a:rPr lang="en-US" dirty="0"/>
              <a:t> و </a:t>
            </a:r>
            <a:r>
              <a:rPr lang="en-US" dirty="0" err="1"/>
              <a:t>رفتار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یاد</a:t>
            </a:r>
            <a:r>
              <a:rPr lang="en-US" dirty="0"/>
              <a:t> </a:t>
            </a:r>
            <a:r>
              <a:rPr lang="en-US" dirty="0" err="1"/>
              <a:t>می‌گیرد</a:t>
            </a:r>
            <a:r>
              <a:rPr lang="en-US" dirty="0"/>
              <a:t> و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شخصی‌تری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پیچیده</a:t>
            </a:r>
            <a:r>
              <a:rPr lang="en-US" dirty="0"/>
              <a:t> </a:t>
            </a:r>
            <a:r>
              <a:rPr lang="en-US" dirty="0" err="1"/>
              <a:t>کردن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؛</a:t>
            </a:r>
          </a:p>
          <a:p>
            <a:pPr algn="r" rtl="1"/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ساده‌تر</a:t>
            </a:r>
            <a:r>
              <a:rPr lang="en-US" dirty="0"/>
              <a:t> </a:t>
            </a:r>
            <a:r>
              <a:rPr lang="en-US" dirty="0" err="1"/>
              <a:t>کردن</a:t>
            </a:r>
            <a:r>
              <a:rPr lang="en-US" dirty="0"/>
              <a:t> </a:t>
            </a:r>
            <a:r>
              <a:rPr lang="en-US" dirty="0" err="1"/>
              <a:t>انتخاب‌های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24546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6F9E-A468-B04C-48BC-CAA2B7613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EB288-3CC7-0D8E-06BF-8C88BA0C8D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 &amp; Business Model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346D8D-E720-6D0D-A407-FF6B551E37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FE60D157-BDF4-B3AC-8C4D-5406912499CC}"/>
              </a:ext>
            </a:extLst>
          </p:cNvPr>
          <p:cNvSpPr txBox="1">
            <a:spLocks/>
          </p:cNvSpPr>
          <p:nvPr/>
        </p:nvSpPr>
        <p:spPr>
          <a:xfrm>
            <a:off x="113128" y="3604911"/>
            <a:ext cx="12030891" cy="26485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/>
          </a:p>
          <a:p>
            <a:r>
              <a:rPr lang="en-US" b="1"/>
              <a:t>Smart AI Ssytems LLC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477774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7A72A-3E1B-8CDD-E8AC-33FDB3D4D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7C51E27-82F9-F35F-84A9-8559604F1F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Our First Customers</a:t>
            </a:r>
          </a:p>
          <a:p>
            <a:r>
              <a:rPr lang="en-US" b="1" dirty="0"/>
              <a:t>Starting with people who need nutrition support the most</a:t>
            </a:r>
          </a:p>
          <a:p>
            <a:r>
              <a:rPr lang="en-US" b="1" dirty="0"/>
              <a:t>Primary Target Groups:</a:t>
            </a:r>
          </a:p>
          <a:p>
            <a:r>
              <a:rPr lang="en-US" dirty="0"/>
              <a:t>🩺 People managing diabetes</a:t>
            </a:r>
          </a:p>
          <a:p>
            <a:r>
              <a:rPr lang="en-US" dirty="0"/>
              <a:t>Type 1 &amp; Type 2 diabetes </a:t>
            </a:r>
          </a:p>
          <a:p>
            <a:r>
              <a:rPr lang="en-US" dirty="0"/>
              <a:t>Pre-diabetes </a:t>
            </a:r>
          </a:p>
          <a:p>
            <a:r>
              <a:rPr lang="en-US" dirty="0"/>
              <a:t>❤️ People with health-related nutrition needs</a:t>
            </a:r>
          </a:p>
          <a:p>
            <a:r>
              <a:rPr lang="en-US" dirty="0"/>
              <a:t>Weight management </a:t>
            </a:r>
          </a:p>
          <a:p>
            <a:r>
              <a:rPr lang="en-US" dirty="0"/>
              <a:t>Fatty liver support </a:t>
            </a:r>
          </a:p>
          <a:p>
            <a:r>
              <a:rPr lang="en-US" dirty="0"/>
              <a:t>Heart health &amp; low-sodium diets </a:t>
            </a:r>
          </a:p>
          <a:p>
            <a:r>
              <a:rPr lang="en-US" dirty="0"/>
              <a:t>👵 Healthy Aging</a:t>
            </a:r>
          </a:p>
          <a:p>
            <a:r>
              <a:rPr lang="en-US" dirty="0"/>
              <a:t>Elderly individuals requiring balanced nutrition </a:t>
            </a:r>
          </a:p>
          <a:p>
            <a:r>
              <a:rPr lang="en-US" dirty="0"/>
              <a:t>🌱 Health-conscious individuals</a:t>
            </a:r>
          </a:p>
          <a:p>
            <a:r>
              <a:rPr lang="en-US" dirty="0"/>
              <a:t>People seeking better lifestyle choices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Start with high-need users.</a:t>
            </a:r>
          </a:p>
          <a:p>
            <a:r>
              <a:rPr lang="en-US" b="1" dirty="0"/>
              <a:t>Expand to everyone who values healthier living.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Now that we know who our first customers are, let's look at the business opportunity and how GINKOVA creates sustainable revenue.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124AB55F-8E78-1E39-5C51-52D8AF80C2ED}"/>
              </a:ext>
            </a:extLst>
          </p:cNvPr>
          <p:cNvSpPr/>
          <p:nvPr/>
        </p:nvSpPr>
        <p:spPr>
          <a:xfrm>
            <a:off x="241539" y="109268"/>
            <a:ext cx="2518913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8</a:t>
            </a:r>
            <a:endParaRPr lang="en-US" b="1" dirty="0"/>
          </a:p>
          <a:p>
            <a:pPr algn="ctr"/>
            <a:r>
              <a:rPr lang="en-US" b="1" dirty="0"/>
              <a:t>Target Market &amp; First Customers</a:t>
            </a:r>
          </a:p>
        </p:txBody>
      </p:sp>
    </p:spTree>
    <p:extLst>
      <p:ext uri="{BB962C8B-B14F-4D97-AF65-F5344CB8AC3E}">
        <p14:creationId xmlns:p14="http://schemas.microsoft.com/office/powerpoint/2010/main" val="27861879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22143-0ECB-8FD4-0011-65AB63A0F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882A4F-070E-EC89-99B3-48876A572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7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Although our long-term vision is to serve everyone who wants to live healthier, we understand the importance of starting with a focused market.</a:t>
            </a:r>
          </a:p>
          <a:p>
            <a:pPr algn="l"/>
            <a:r>
              <a:rPr lang="en-US" dirty="0"/>
              <a:t>Our first customers are people who already feel the pain of making daily food decisions.</a:t>
            </a:r>
          </a:p>
          <a:p>
            <a:pPr algn="l"/>
            <a:r>
              <a:rPr lang="en-US" dirty="0"/>
              <a:t>This includes individuals managing diabetes, people with specific nutritional needs, elderly individuals, and people who are actively trying to improve their lifestyle.</a:t>
            </a:r>
          </a:p>
          <a:p>
            <a:pPr algn="l"/>
            <a:r>
              <a:rPr lang="en-US" dirty="0"/>
              <a:t>These users have a stronger motivation to use a personalized nutrition solution because food directly affects their daily health decisions.</a:t>
            </a:r>
          </a:p>
          <a:p>
            <a:pPr algn="l"/>
            <a:r>
              <a:rPr lang="en-US" dirty="0"/>
              <a:t>After building trust and collecting real user data, we can expand to a much broader health-conscious market.</a:t>
            </a:r>
          </a:p>
          <a:p>
            <a:br>
              <a:rPr lang="en-US" dirty="0"/>
            </a:br>
            <a:endParaRPr lang="en-US" dirty="0"/>
          </a:p>
          <a:p>
            <a:pPr rtl="1"/>
            <a:r>
              <a:rPr lang="en-US" b="1" dirty="0"/>
              <a:t>5) 🎤 </a:t>
            </a:r>
            <a:r>
              <a:rPr lang="en-US" b="1" dirty="0" err="1"/>
              <a:t>یادداشت</a:t>
            </a:r>
            <a:r>
              <a:rPr lang="en-US" b="1" dirty="0"/>
              <a:t> </a:t>
            </a:r>
            <a:r>
              <a:rPr lang="en-US" b="1" dirty="0" err="1"/>
              <a:t>سخنران</a:t>
            </a:r>
            <a:r>
              <a:rPr lang="en-US" b="1" dirty="0"/>
              <a:t> (</a:t>
            </a:r>
            <a:r>
              <a:rPr lang="en-US" b="1" dirty="0" err="1"/>
              <a:t>فارسی</a:t>
            </a:r>
            <a:r>
              <a:rPr lang="en-US" b="1" dirty="0"/>
              <a:t>)</a:t>
            </a:r>
          </a:p>
          <a:p>
            <a:pPr rtl="1"/>
            <a:r>
              <a:rPr lang="en-US" dirty="0" err="1"/>
              <a:t>اگرچه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خدمت‌رسانی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می‌خواهند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کنند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می‌دانیم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باید</a:t>
            </a:r>
            <a:r>
              <a:rPr lang="en-US" dirty="0"/>
              <a:t> </a:t>
            </a:r>
            <a:r>
              <a:rPr lang="en-US" dirty="0" err="1"/>
              <a:t>روی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مشخص</a:t>
            </a:r>
            <a:r>
              <a:rPr lang="en-US" dirty="0"/>
              <a:t> </a:t>
            </a:r>
            <a:r>
              <a:rPr lang="en-US" dirty="0" err="1"/>
              <a:t>تمرکز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مشتریان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بیشترین</a:t>
            </a:r>
            <a:r>
              <a:rPr lang="en-US" dirty="0"/>
              <a:t> </a:t>
            </a:r>
            <a:r>
              <a:rPr lang="en-US" dirty="0" err="1"/>
              <a:t>درد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انتخاب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گروه</a:t>
            </a:r>
            <a:r>
              <a:rPr lang="en-US" dirty="0"/>
              <a:t> </a:t>
            </a:r>
            <a:r>
              <a:rPr lang="en-US" dirty="0" err="1"/>
              <a:t>شامل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مبتلا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،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دارای</a:t>
            </a:r>
            <a:r>
              <a:rPr lang="en-US" dirty="0"/>
              <a:t>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خاص</a:t>
            </a:r>
            <a:r>
              <a:rPr lang="en-US" dirty="0"/>
              <a:t>، </a:t>
            </a:r>
            <a:r>
              <a:rPr lang="en-US" dirty="0" err="1"/>
              <a:t>سالمندان</a:t>
            </a:r>
            <a:r>
              <a:rPr lang="en-US" dirty="0"/>
              <a:t> و </a:t>
            </a:r>
            <a:r>
              <a:rPr lang="en-US" dirty="0" err="1"/>
              <a:t>افرادی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صورت</a:t>
            </a:r>
            <a:r>
              <a:rPr lang="en-US" dirty="0"/>
              <a:t> </a:t>
            </a:r>
            <a:r>
              <a:rPr lang="en-US" dirty="0" err="1"/>
              <a:t>فعال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دنبال</a:t>
            </a:r>
            <a:r>
              <a:rPr lang="en-US" dirty="0"/>
              <a:t> </a:t>
            </a:r>
            <a:r>
              <a:rPr lang="en-US" dirty="0" err="1"/>
              <a:t>بهبود</a:t>
            </a:r>
            <a:r>
              <a:rPr lang="en-US" dirty="0"/>
              <a:t> </a:t>
            </a:r>
            <a:r>
              <a:rPr lang="en-US" dirty="0" err="1"/>
              <a:t>سبک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انگیزه</a:t>
            </a:r>
            <a:r>
              <a:rPr lang="en-US" dirty="0"/>
              <a:t> </a:t>
            </a:r>
            <a:r>
              <a:rPr lang="en-US" dirty="0" err="1"/>
              <a:t>بیشتری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راهکار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، </a:t>
            </a:r>
            <a:r>
              <a:rPr lang="en-US" dirty="0" err="1"/>
              <a:t>زیرا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مستقیماً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آن‌ها</a:t>
            </a:r>
            <a:r>
              <a:rPr lang="en-US" dirty="0"/>
              <a:t> </a:t>
            </a:r>
            <a:r>
              <a:rPr lang="en-US" dirty="0" err="1"/>
              <a:t>تأثیر</a:t>
            </a:r>
            <a:r>
              <a:rPr lang="en-US" dirty="0"/>
              <a:t> </a:t>
            </a:r>
            <a:r>
              <a:rPr lang="en-US" dirty="0" err="1"/>
              <a:t>می‌گذارد</a:t>
            </a:r>
            <a:r>
              <a:rPr lang="en-US" dirty="0"/>
              <a:t>.</a:t>
            </a:r>
          </a:p>
          <a:p>
            <a:pPr rtl="1"/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و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، </a:t>
            </a:r>
            <a:r>
              <a:rPr lang="en-US" dirty="0" err="1"/>
              <a:t>می‌توانیم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 </a:t>
            </a:r>
            <a:r>
              <a:rPr lang="en-US" dirty="0" err="1"/>
              <a:t>گسترده‌تری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علاقه‌مند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توسعه</a:t>
            </a:r>
            <a:r>
              <a:rPr lang="en-US" dirty="0"/>
              <a:t> </a:t>
            </a:r>
            <a:r>
              <a:rPr lang="en-US" dirty="0" err="1"/>
              <a:t>پیدا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97651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C7AB2-261E-7356-7024-001C1A706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EAD9C2-9442-A8D9-8F61-FE71571F0E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A Growing Market Opportunity</a:t>
            </a:r>
          </a:p>
          <a:p>
            <a:r>
              <a:rPr lang="en-US" b="1" dirty="0"/>
              <a:t>The world is moving from treating diseases</a:t>
            </a:r>
          </a:p>
          <a:p>
            <a:r>
              <a:rPr lang="en-US" b="1" dirty="0"/>
              <a:t>to preventing them through healthier lifestyles.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Three major trends are creating this opportunity:</a:t>
            </a:r>
          </a:p>
          <a:p>
            <a:r>
              <a:rPr lang="en-US" dirty="0"/>
              <a:t>🩺 </a:t>
            </a:r>
            <a:r>
              <a:rPr lang="en-US" b="1" dirty="0"/>
              <a:t>Rise of Chronic Conditions</a:t>
            </a:r>
            <a:endParaRPr lang="en-US" dirty="0"/>
          </a:p>
          <a:p>
            <a:r>
              <a:rPr lang="en-US" dirty="0"/>
              <a:t>Diabetes, obesity, and lifestyle-related health challenges are increasing worldwide.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👵 </a:t>
            </a:r>
            <a:r>
              <a:rPr lang="en-US" b="1" dirty="0"/>
              <a:t>Aging Population</a:t>
            </a:r>
            <a:endParaRPr lang="en-US" dirty="0"/>
          </a:p>
          <a:p>
            <a:r>
              <a:rPr lang="en-US" dirty="0"/>
              <a:t>More people need long-term nutrition support and healthy aging solutions.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🧠 </a:t>
            </a:r>
            <a:r>
              <a:rPr lang="en-US" b="1" dirty="0"/>
              <a:t>Personalized Health &amp; AI</a:t>
            </a:r>
            <a:endParaRPr lang="en-US" dirty="0"/>
          </a:p>
          <a:p>
            <a:r>
              <a:rPr lang="en-US" dirty="0"/>
              <a:t>Consumers expect smarter, more personalized health experiences.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GINKOVA sits at the intersection of these global trends.</a:t>
            </a:r>
            <a:endParaRPr lang="fa-IR" b="1" dirty="0"/>
          </a:p>
          <a:p>
            <a:endParaRPr lang="fa-IR" b="1" dirty="0"/>
          </a:p>
          <a:p>
            <a:r>
              <a:rPr lang="en-US" dirty="0"/>
              <a:t>A large opportunity requires a sustainable business model. Let's see how GINKOVA creates value and generates revenue.</a:t>
            </a:r>
            <a:endParaRPr lang="en-US" b="1" dirty="0"/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901413D0-9188-987B-37D6-2A9286F80278}"/>
              </a:ext>
            </a:extLst>
          </p:cNvPr>
          <p:cNvSpPr/>
          <p:nvPr/>
        </p:nvSpPr>
        <p:spPr>
          <a:xfrm>
            <a:off x="241539" y="109268"/>
            <a:ext cx="3324046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9</a:t>
            </a:r>
            <a:endParaRPr lang="en-US" b="1" dirty="0"/>
          </a:p>
          <a:p>
            <a:pPr algn="ctr"/>
            <a:r>
              <a:rPr lang="en-US" b="1" dirty="0"/>
              <a:t>Market Opportunity &amp; Why Now</a:t>
            </a:r>
          </a:p>
        </p:txBody>
      </p:sp>
    </p:spTree>
    <p:extLst>
      <p:ext uri="{BB962C8B-B14F-4D97-AF65-F5344CB8AC3E}">
        <p14:creationId xmlns:p14="http://schemas.microsoft.com/office/powerpoint/2010/main" val="2158268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8B562-8578-08C8-9C13-B8C39D23E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9483713-02B5-2BA7-5EE3-76CDD515E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62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GINKOVA is being built at the intersection of several major global trends.</a:t>
            </a:r>
          </a:p>
          <a:p>
            <a:pPr algn="l"/>
            <a:r>
              <a:rPr lang="en-US" dirty="0"/>
              <a:t>First, chronic conditions such as diabetes and obesity continue to increase, creating a growing need for better daily health management.</a:t>
            </a:r>
          </a:p>
          <a:p>
            <a:pPr algn="l"/>
            <a:r>
              <a:rPr lang="en-US" dirty="0"/>
              <a:t>Second, the world population is aging, and older adults need practical solutions to maintain healthier lives.</a:t>
            </a:r>
          </a:p>
          <a:p>
            <a:pPr algn="l"/>
            <a:r>
              <a:rPr lang="en-US" dirty="0"/>
              <a:t>Third, consumers are becoming more familiar with personalized experiences powered by data and artificial intelligence.</a:t>
            </a:r>
          </a:p>
          <a:p>
            <a:pPr algn="l"/>
            <a:r>
              <a:rPr lang="en-US" dirty="0"/>
              <a:t>These trends are changing the way people think about health.</a:t>
            </a:r>
          </a:p>
          <a:p>
            <a:pPr algn="l"/>
            <a:r>
              <a:rPr lang="en-US" dirty="0"/>
              <a:t>Healthcare is not only about treating problems after they happen.</a:t>
            </a:r>
          </a:p>
          <a:p>
            <a:pPr algn="l"/>
            <a:r>
              <a:rPr lang="en-US" dirty="0"/>
              <a:t>The future is also about prevention, better choices, and continuous support.</a:t>
            </a:r>
          </a:p>
          <a:p>
            <a:pPr algn="l"/>
            <a:r>
              <a:rPr lang="en-US" dirty="0"/>
              <a:t>GINKOVA is positioned exactly at this intersection: using food as the daily connection point between people and personalized health.</a:t>
            </a:r>
          </a:p>
          <a:p>
            <a:br>
              <a:rPr lang="en-US" dirty="0"/>
            </a:br>
            <a:endParaRPr lang="en-US" dirty="0"/>
          </a:p>
          <a:p>
            <a:pPr algn="r" rtl="1"/>
            <a:r>
              <a:rPr lang="en-US" b="1" dirty="0"/>
              <a:t>5) 🎤 </a:t>
            </a:r>
            <a:r>
              <a:rPr lang="en-US" b="1" dirty="0" err="1"/>
              <a:t>یادداشت</a:t>
            </a:r>
            <a:r>
              <a:rPr lang="en-US" b="1" dirty="0"/>
              <a:t> </a:t>
            </a:r>
            <a:r>
              <a:rPr lang="en-US" b="1" dirty="0" err="1"/>
              <a:t>سخنران</a:t>
            </a:r>
            <a:r>
              <a:rPr lang="en-US" b="1" dirty="0"/>
              <a:t> (</a:t>
            </a:r>
            <a:r>
              <a:rPr lang="en-US" b="1" dirty="0" err="1"/>
              <a:t>فارسی</a:t>
            </a:r>
            <a:r>
              <a:rPr lang="en-US" b="1" dirty="0"/>
              <a:t>)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تقاطع</a:t>
            </a:r>
            <a:r>
              <a:rPr lang="en-US" dirty="0"/>
              <a:t> </a:t>
            </a:r>
            <a:r>
              <a:rPr lang="en-US" dirty="0" err="1"/>
              <a:t>چند</a:t>
            </a:r>
            <a:r>
              <a:rPr lang="en-US" dirty="0"/>
              <a:t> </a:t>
            </a:r>
            <a:r>
              <a:rPr lang="en-US" dirty="0" err="1"/>
              <a:t>روند</a:t>
            </a:r>
            <a:r>
              <a:rPr lang="en-US" dirty="0"/>
              <a:t> </a:t>
            </a:r>
            <a:r>
              <a:rPr lang="en-US" dirty="0" err="1"/>
              <a:t>بزرگ</a:t>
            </a:r>
            <a:r>
              <a:rPr lang="en-US" dirty="0"/>
              <a:t> </a:t>
            </a:r>
            <a:r>
              <a:rPr lang="en-US" dirty="0" err="1"/>
              <a:t>جهانی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شکل‌گیری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اول</a:t>
            </a:r>
            <a:r>
              <a:rPr lang="en-US" dirty="0"/>
              <a:t>، </a:t>
            </a:r>
            <a:r>
              <a:rPr lang="en-US" dirty="0" err="1"/>
              <a:t>بیماری‌های</a:t>
            </a:r>
            <a:r>
              <a:rPr lang="en-US" dirty="0"/>
              <a:t> </a:t>
            </a:r>
            <a:r>
              <a:rPr lang="en-US" dirty="0" err="1"/>
              <a:t>مزمن</a:t>
            </a:r>
            <a:r>
              <a:rPr lang="en-US" dirty="0"/>
              <a:t> </a:t>
            </a:r>
            <a:r>
              <a:rPr lang="en-US" dirty="0" err="1"/>
              <a:t>مانند</a:t>
            </a:r>
            <a:r>
              <a:rPr lang="en-US" dirty="0"/>
              <a:t> </a:t>
            </a:r>
            <a:r>
              <a:rPr lang="en-US" dirty="0" err="1"/>
              <a:t>دیابت</a:t>
            </a:r>
            <a:r>
              <a:rPr lang="en-US" dirty="0"/>
              <a:t> و </a:t>
            </a:r>
            <a:r>
              <a:rPr lang="en-US" dirty="0" err="1"/>
              <a:t>چاقی</a:t>
            </a:r>
            <a:r>
              <a:rPr lang="en-US" dirty="0"/>
              <a:t> </a:t>
            </a:r>
            <a:r>
              <a:rPr lang="en-US" dirty="0" err="1"/>
              <a:t>همچنان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افزایش</a:t>
            </a:r>
            <a:r>
              <a:rPr lang="en-US" dirty="0"/>
              <a:t> </a:t>
            </a:r>
            <a:r>
              <a:rPr lang="en-US" dirty="0" err="1"/>
              <a:t>هستند</a:t>
            </a:r>
            <a:r>
              <a:rPr lang="en-US" dirty="0"/>
              <a:t> و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مدیریت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دوم</a:t>
            </a:r>
            <a:r>
              <a:rPr lang="en-US" dirty="0"/>
              <a:t>، </a:t>
            </a:r>
            <a:r>
              <a:rPr lang="en-US" dirty="0" err="1"/>
              <a:t>جمعیت</a:t>
            </a:r>
            <a:r>
              <a:rPr lang="en-US" dirty="0"/>
              <a:t> </a:t>
            </a:r>
            <a:r>
              <a:rPr lang="en-US" dirty="0" err="1"/>
              <a:t>جهان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حال</a:t>
            </a:r>
            <a:r>
              <a:rPr lang="en-US" dirty="0"/>
              <a:t> </a:t>
            </a:r>
            <a:r>
              <a:rPr lang="en-US" dirty="0" err="1"/>
              <a:t>سالمند</a:t>
            </a:r>
            <a:r>
              <a:rPr lang="en-US" dirty="0"/>
              <a:t> </a:t>
            </a:r>
            <a:r>
              <a:rPr lang="en-US" dirty="0" err="1"/>
              <a:t>شدن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 و </a:t>
            </a:r>
            <a:r>
              <a:rPr lang="en-US" dirty="0" err="1"/>
              <a:t>افراد</a:t>
            </a:r>
            <a:r>
              <a:rPr lang="en-US" dirty="0"/>
              <a:t> </a:t>
            </a:r>
            <a:r>
              <a:rPr lang="en-US" dirty="0" err="1"/>
              <a:t>مسن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راهکارهای</a:t>
            </a:r>
            <a:r>
              <a:rPr lang="en-US" dirty="0"/>
              <a:t> </a:t>
            </a:r>
            <a:r>
              <a:rPr lang="en-US" dirty="0" err="1"/>
              <a:t>عملی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حفظ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نیاز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سوم</a:t>
            </a:r>
            <a:r>
              <a:rPr lang="en-US" dirty="0"/>
              <a:t>، </a:t>
            </a:r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تجربه‌های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مبتنی</a:t>
            </a:r>
            <a:r>
              <a:rPr lang="en-US" dirty="0"/>
              <a:t> </a:t>
            </a:r>
            <a:r>
              <a:rPr lang="en-US" dirty="0" err="1"/>
              <a:t>بر</a:t>
            </a:r>
            <a:r>
              <a:rPr lang="en-US" dirty="0"/>
              <a:t> </a:t>
            </a:r>
            <a:r>
              <a:rPr lang="en-US" dirty="0" err="1"/>
              <a:t>داده</a:t>
            </a:r>
            <a:r>
              <a:rPr lang="en-US" dirty="0"/>
              <a:t> و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آشنا</a:t>
            </a:r>
            <a:r>
              <a:rPr lang="en-US" dirty="0"/>
              <a:t> </a:t>
            </a:r>
            <a:r>
              <a:rPr lang="en-US" dirty="0" err="1"/>
              <a:t>شده‌اند</a:t>
            </a:r>
            <a:r>
              <a:rPr lang="en-US" dirty="0"/>
              <a:t> و </a:t>
            </a:r>
            <a:r>
              <a:rPr lang="en-US" dirty="0" err="1"/>
              <a:t>انتظار</a:t>
            </a:r>
            <a:r>
              <a:rPr lang="en-US" dirty="0"/>
              <a:t> </a:t>
            </a:r>
            <a:r>
              <a:rPr lang="en-US" dirty="0" err="1"/>
              <a:t>دارند</a:t>
            </a:r>
            <a:r>
              <a:rPr lang="en-US" dirty="0"/>
              <a:t> </a:t>
            </a:r>
            <a:r>
              <a:rPr lang="en-US" dirty="0" err="1"/>
              <a:t>خدمات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نیز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شخصی‌تر</a:t>
            </a:r>
            <a:r>
              <a:rPr lang="en-US" dirty="0"/>
              <a:t> </a:t>
            </a:r>
            <a:r>
              <a:rPr lang="en-US" dirty="0" err="1"/>
              <a:t>شوند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روندها</a:t>
            </a:r>
            <a:r>
              <a:rPr lang="en-US" dirty="0"/>
              <a:t> </a:t>
            </a:r>
            <a:r>
              <a:rPr lang="en-US" dirty="0" err="1"/>
              <a:t>باعث</a:t>
            </a:r>
            <a:r>
              <a:rPr lang="en-US" dirty="0"/>
              <a:t> </a:t>
            </a:r>
            <a:r>
              <a:rPr lang="en-US" dirty="0" err="1"/>
              <a:t>تغییر</a:t>
            </a:r>
            <a:r>
              <a:rPr lang="en-US" dirty="0"/>
              <a:t> </a:t>
            </a:r>
            <a:r>
              <a:rPr lang="en-US" dirty="0" err="1"/>
              <a:t>نگاه</a:t>
            </a:r>
            <a:r>
              <a:rPr lang="en-US" dirty="0"/>
              <a:t> </a:t>
            </a:r>
            <a:r>
              <a:rPr lang="en-US" dirty="0" err="1"/>
              <a:t>مردم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شده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درمان</a:t>
            </a:r>
            <a:r>
              <a:rPr lang="en-US" dirty="0"/>
              <a:t> </a:t>
            </a:r>
            <a:r>
              <a:rPr lang="en-US" dirty="0" err="1"/>
              <a:t>مشکل</a:t>
            </a:r>
            <a:r>
              <a:rPr lang="en-US" dirty="0"/>
              <a:t> </a:t>
            </a:r>
            <a:r>
              <a:rPr lang="en-US" dirty="0" err="1"/>
              <a:t>پس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وقوع</a:t>
            </a:r>
            <a:r>
              <a:rPr lang="en-US" dirty="0"/>
              <a:t> </a:t>
            </a:r>
            <a:r>
              <a:rPr lang="en-US" dirty="0" err="1"/>
              <a:t>آن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، </a:t>
            </a:r>
            <a:r>
              <a:rPr lang="en-US" dirty="0" err="1"/>
              <a:t>پیشگیری</a:t>
            </a:r>
            <a:r>
              <a:rPr lang="en-US" dirty="0"/>
              <a:t>، </a:t>
            </a:r>
            <a:r>
              <a:rPr lang="en-US" dirty="0" err="1"/>
              <a:t>انتخاب‌های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و </a:t>
            </a:r>
            <a:r>
              <a:rPr lang="en-US" dirty="0" err="1"/>
              <a:t>حمایت</a:t>
            </a:r>
            <a:r>
              <a:rPr lang="en-US" dirty="0"/>
              <a:t> </a:t>
            </a:r>
            <a:r>
              <a:rPr lang="en-US" dirty="0" err="1"/>
              <a:t>مستمر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دقیقاً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قرار</a:t>
            </a:r>
            <a:r>
              <a:rPr lang="en-US" dirty="0"/>
              <a:t> </a:t>
            </a:r>
            <a:r>
              <a:rPr lang="en-US" dirty="0" err="1"/>
              <a:t>دارد</a:t>
            </a:r>
            <a:r>
              <a:rPr lang="en-US" dirty="0"/>
              <a:t>: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عنوان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بین</a:t>
            </a:r>
            <a:r>
              <a:rPr lang="en-US" dirty="0"/>
              <a:t> </a:t>
            </a:r>
            <a:r>
              <a:rPr lang="en-US" dirty="0" err="1"/>
              <a:t>انسان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48199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5D6D6-B18B-29E0-6B2E-B53866E7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BA850E8-D2CC-36F2-5A3C-B840EBAC97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363379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A Scalable Business Model</a:t>
            </a:r>
          </a:p>
          <a:p>
            <a:r>
              <a:rPr lang="en-US" b="1" dirty="0"/>
              <a:t>Starting with healthy meals.</a:t>
            </a:r>
          </a:p>
          <a:p>
            <a:r>
              <a:rPr lang="en-US" b="1" dirty="0"/>
              <a:t>Expanding into a personalized health ecosystem.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Revenue Streams:</a:t>
            </a:r>
          </a:p>
          <a:p>
            <a:r>
              <a:rPr lang="en-US" b="1" dirty="0"/>
              <a:t>1. Direct Meal Sales</a:t>
            </a:r>
          </a:p>
          <a:p>
            <a:r>
              <a:rPr lang="en-US" dirty="0"/>
              <a:t>🥗 Individual healthy meal orders</a:t>
            </a:r>
          </a:p>
          <a:p>
            <a:r>
              <a:rPr lang="en-US" dirty="0"/>
              <a:t>Daily meals </a:t>
            </a:r>
          </a:p>
          <a:p>
            <a:r>
              <a:rPr lang="en-US" dirty="0"/>
              <a:t>Customized nutrition options </a:t>
            </a:r>
          </a:p>
          <a:p>
            <a:endParaRPr lang="en-US" dirty="0"/>
          </a:p>
          <a:p>
            <a:r>
              <a:rPr lang="en-US" b="1" dirty="0"/>
              <a:t>2. Subscription Programs</a:t>
            </a:r>
          </a:p>
          <a:p>
            <a:r>
              <a:rPr lang="en-US" dirty="0"/>
              <a:t>📅 Recurring health plans</a:t>
            </a:r>
          </a:p>
          <a:p>
            <a:r>
              <a:rPr lang="en-US" dirty="0"/>
              <a:t>Diabetes support plans </a:t>
            </a:r>
          </a:p>
          <a:p>
            <a:r>
              <a:rPr lang="en-US" dirty="0"/>
              <a:t>Healthy aging programs </a:t>
            </a:r>
          </a:p>
          <a:p>
            <a:r>
              <a:rPr lang="en-US" dirty="0"/>
              <a:t>Weight management programs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3. Healthcare Partnerships</a:t>
            </a:r>
          </a:p>
          <a:p>
            <a:r>
              <a:rPr lang="en-US" dirty="0"/>
              <a:t>🤝 B2B collaborations</a:t>
            </a:r>
          </a:p>
          <a:p>
            <a:r>
              <a:rPr lang="en-US" dirty="0"/>
              <a:t>Clinics </a:t>
            </a:r>
          </a:p>
          <a:p>
            <a:r>
              <a:rPr lang="en-US" dirty="0"/>
              <a:t>Nutrition specialists </a:t>
            </a:r>
          </a:p>
          <a:p>
            <a:r>
              <a:rPr lang="en-US" dirty="0"/>
              <a:t>Healthcare organizations </a:t>
            </a:r>
            <a:br>
              <a:rPr lang="en-US" dirty="0"/>
            </a:br>
            <a:endParaRPr lang="en-US" dirty="0"/>
          </a:p>
          <a:p>
            <a:r>
              <a:rPr lang="en-US" b="1" dirty="0"/>
              <a:t>4. Future AI Health Services</a:t>
            </a:r>
          </a:p>
          <a:p>
            <a:r>
              <a:rPr lang="en-US" dirty="0"/>
              <a:t>🧠 Personalized nutrition intelligence</a:t>
            </a:r>
            <a:endParaRPr lang="fa-IR" dirty="0"/>
          </a:p>
          <a:p>
            <a:endParaRPr lang="fa-IR" dirty="0"/>
          </a:p>
          <a:p>
            <a:r>
              <a:rPr lang="en-US" dirty="0"/>
              <a:t>Building a sustainable business is only the beginning. Our bigger vision is to transform how people manage health through everyday nutrition.</a:t>
            </a:r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7126440C-69E4-BB4C-2977-15176457CB46}"/>
              </a:ext>
            </a:extLst>
          </p:cNvPr>
          <p:cNvSpPr/>
          <p:nvPr/>
        </p:nvSpPr>
        <p:spPr>
          <a:xfrm>
            <a:off x="241539" y="109268"/>
            <a:ext cx="2679940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10</a:t>
            </a:r>
            <a:endParaRPr lang="en-US" b="1" dirty="0"/>
          </a:p>
          <a:p>
            <a:pPr algn="ctr"/>
            <a:r>
              <a:rPr lang="en-US" b="1" dirty="0"/>
              <a:t>Business Model &amp; Revenue Streams</a:t>
            </a:r>
          </a:p>
        </p:txBody>
      </p:sp>
    </p:spTree>
    <p:extLst>
      <p:ext uri="{BB962C8B-B14F-4D97-AF65-F5344CB8AC3E}">
        <p14:creationId xmlns:p14="http://schemas.microsoft.com/office/powerpoint/2010/main" val="2795120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64090-9EAF-C2F5-3FCB-45F822BF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22EAD9B-F671-026D-68BB-3C16E54A0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925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Our initial revenue model is simple and practical: selling healthy personalized meals.</a:t>
            </a:r>
          </a:p>
          <a:p>
            <a:pPr algn="l"/>
            <a:r>
              <a:rPr lang="en-US" dirty="0"/>
              <a:t>This allows us to build customer relationships, understand user needs, and collect valuable nutrition data.</a:t>
            </a:r>
          </a:p>
          <a:p>
            <a:pPr algn="l"/>
            <a:r>
              <a:rPr lang="en-US" dirty="0"/>
              <a:t>However, our long-term business model goes beyond food sales.</a:t>
            </a:r>
          </a:p>
          <a:p>
            <a:pPr algn="l"/>
            <a:r>
              <a:rPr lang="en-US" dirty="0"/>
              <a:t>We will create recurring revenue through subscription-based nutrition programs, partnerships with healthcare providers, and eventually AI-powered personalized nutrition services.</a:t>
            </a:r>
          </a:p>
          <a:p>
            <a:pPr algn="l"/>
            <a:r>
              <a:rPr lang="en-US" dirty="0"/>
              <a:t>Food is the first interaction with the customer, but the long-term value comes from the intelligence layer built around the user's health journey.</a:t>
            </a:r>
          </a:p>
          <a:p>
            <a:br>
              <a:rPr lang="en-US" dirty="0"/>
            </a:br>
            <a:endParaRPr lang="en-US" b="1" dirty="0"/>
          </a:p>
          <a:p>
            <a:pPr algn="r" rtl="1"/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درآمدی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ساده</a:t>
            </a:r>
            <a:r>
              <a:rPr lang="en-US" dirty="0"/>
              <a:t> و </a:t>
            </a:r>
            <a:r>
              <a:rPr lang="en-US" dirty="0" err="1"/>
              <a:t>عملی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 </a:t>
            </a:r>
            <a:r>
              <a:rPr lang="en-US" dirty="0" err="1"/>
              <a:t>فروش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و </a:t>
            </a:r>
            <a:r>
              <a:rPr lang="en-US" dirty="0" err="1"/>
              <a:t>شخصی‌سازی‌شده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کار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مستقیم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مشتری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، </a:t>
            </a:r>
            <a:r>
              <a:rPr lang="en-US" dirty="0" err="1"/>
              <a:t>نیازهای</a:t>
            </a:r>
            <a:r>
              <a:rPr lang="en-US" dirty="0"/>
              <a:t> </a:t>
            </a:r>
            <a:r>
              <a:rPr lang="en-US" dirty="0" err="1"/>
              <a:t>واقعی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بشناسیم</a:t>
            </a:r>
            <a:r>
              <a:rPr lang="en-US" dirty="0"/>
              <a:t> و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ارزشمند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</a:t>
            </a:r>
            <a:r>
              <a:rPr lang="en-US" dirty="0" err="1"/>
              <a:t>جمع‌آوری</a:t>
            </a:r>
            <a:r>
              <a:rPr lang="en-US" dirty="0"/>
              <a:t> </a:t>
            </a:r>
            <a:r>
              <a:rPr lang="en-US" dirty="0" err="1"/>
              <a:t>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مدل</a:t>
            </a:r>
            <a:r>
              <a:rPr lang="en-US" dirty="0"/>
              <a:t> </a:t>
            </a:r>
            <a:r>
              <a:rPr lang="en-US" dirty="0" err="1"/>
              <a:t>کسب‌وکار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فروش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طریق</a:t>
            </a:r>
            <a:r>
              <a:rPr lang="en-US" dirty="0"/>
              <a:t> </a:t>
            </a:r>
            <a:r>
              <a:rPr lang="en-US" dirty="0" err="1"/>
              <a:t>برنامه‌های</a:t>
            </a:r>
            <a:r>
              <a:rPr lang="en-US" dirty="0"/>
              <a:t> </a:t>
            </a:r>
            <a:r>
              <a:rPr lang="en-US" dirty="0" err="1"/>
              <a:t>اشتراکی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، </a:t>
            </a:r>
            <a:r>
              <a:rPr lang="en-US" dirty="0" err="1"/>
              <a:t>همکاری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مراکز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و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خدمات</a:t>
            </a:r>
            <a:r>
              <a:rPr lang="en-US" dirty="0"/>
              <a:t>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، </a:t>
            </a:r>
            <a:r>
              <a:rPr lang="en-US" dirty="0" err="1"/>
              <a:t>مسیرهای</a:t>
            </a:r>
            <a:r>
              <a:rPr lang="en-US" dirty="0"/>
              <a:t> </a:t>
            </a:r>
            <a:r>
              <a:rPr lang="en-US" dirty="0" err="1"/>
              <a:t>درآمدی</a:t>
            </a:r>
            <a:r>
              <a:rPr lang="en-US" dirty="0"/>
              <a:t> </a:t>
            </a:r>
            <a:r>
              <a:rPr lang="en-US" dirty="0" err="1"/>
              <a:t>متنوعی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خواهیم</a:t>
            </a:r>
            <a:r>
              <a:rPr lang="en-US" dirty="0"/>
              <a:t> </a:t>
            </a:r>
            <a:r>
              <a:rPr lang="en-US" dirty="0" err="1"/>
              <a:t>کرد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مشتری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ارزش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لایه</a:t>
            </a:r>
            <a:r>
              <a:rPr lang="en-US" dirty="0"/>
              <a:t> </a:t>
            </a: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ساخته‌شده</a:t>
            </a:r>
            <a:r>
              <a:rPr lang="en-US" dirty="0"/>
              <a:t> </a:t>
            </a:r>
            <a:r>
              <a:rPr lang="en-US" dirty="0" err="1"/>
              <a:t>حول</a:t>
            </a:r>
            <a:r>
              <a:rPr lang="en-US" dirty="0"/>
              <a:t> </a:t>
            </a:r>
            <a:r>
              <a:rPr lang="en-US" dirty="0" err="1"/>
              <a:t>مسیر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کاربر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087779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A3FB2-F056-D1F9-2B14-73D3D74C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4D4F-C706-637A-8A71-9D579312F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Vision &amp; Investment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3E67D39-5850-5606-DE4A-12A821C479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ECC5B87-14C4-B865-CBB4-79EE25BA2AAE}"/>
              </a:ext>
            </a:extLst>
          </p:cNvPr>
          <p:cNvSpPr txBox="1">
            <a:spLocks/>
          </p:cNvSpPr>
          <p:nvPr/>
        </p:nvSpPr>
        <p:spPr>
          <a:xfrm>
            <a:off x="107377" y="3604911"/>
            <a:ext cx="12030891" cy="264854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ln>
                  <a:noFill/>
                </a:ln>
                <a:solidFill>
                  <a:srgbClr val="4B5563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/>
          </a:p>
          <a:p>
            <a:r>
              <a:rPr lang="en-US" b="1"/>
              <a:t>Smart AI Ssytems LLC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949368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79794-4130-2929-8451-E7817C5D9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BDB473B-A834-1AA9-43E5-BEF77CF7D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2"/>
            <a:ext cx="12065479" cy="6472647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Our Vision</a:t>
            </a:r>
          </a:p>
          <a:p>
            <a:r>
              <a:rPr lang="en-US" b="1" dirty="0"/>
              <a:t>From Healthy Meals</a:t>
            </a:r>
          </a:p>
          <a:p>
            <a:r>
              <a:rPr lang="en-US" b="1" dirty="0"/>
              <a:t>To Personal Health Intelligence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Phase 1 — Trusted Nutrition Platform</a:t>
            </a:r>
          </a:p>
          <a:p>
            <a:r>
              <a:rPr lang="en-US" dirty="0"/>
              <a:t>🥗 Launch personalized healthy meals</a:t>
            </a:r>
          </a:p>
          <a:p>
            <a:r>
              <a:rPr lang="en-US" dirty="0"/>
              <a:t>Transparent nutrition information </a:t>
            </a:r>
          </a:p>
          <a:p>
            <a:r>
              <a:rPr lang="en-US" dirty="0"/>
              <a:t>Health-focused meal categories </a:t>
            </a:r>
          </a:p>
          <a:p>
            <a:r>
              <a:rPr lang="en-US" dirty="0"/>
              <a:t>Build customer trust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Phase 2 — Intelligent Nutrition System</a:t>
            </a:r>
          </a:p>
          <a:p>
            <a:r>
              <a:rPr lang="en-US" dirty="0"/>
              <a:t>🧠 Use data &amp; AI to improve personalization</a:t>
            </a:r>
          </a:p>
          <a:p>
            <a:r>
              <a:rPr lang="en-US" dirty="0"/>
              <a:t>Smart meal recommendations </a:t>
            </a:r>
          </a:p>
          <a:p>
            <a:r>
              <a:rPr lang="en-US" dirty="0"/>
              <a:t>Nutrition insights </a:t>
            </a:r>
          </a:p>
          <a:p>
            <a:r>
              <a:rPr lang="en-US" dirty="0"/>
              <a:t>Personalized health journeys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Phase 3 — Personal Health Ecosystem</a:t>
            </a:r>
          </a:p>
          <a:p>
            <a:r>
              <a:rPr lang="en-US" dirty="0"/>
              <a:t>🌱 Become a daily health companion</a:t>
            </a:r>
          </a:p>
          <a:p>
            <a:r>
              <a:rPr lang="en-US" dirty="0"/>
              <a:t>AI-powered nutrition assistant </a:t>
            </a:r>
          </a:p>
          <a:p>
            <a:r>
              <a:rPr lang="en-US" dirty="0"/>
              <a:t>Family health support </a:t>
            </a:r>
          </a:p>
          <a:p>
            <a:r>
              <a:rPr lang="en-US" dirty="0"/>
              <a:t>Healthcare partnerships </a:t>
            </a:r>
          </a:p>
          <a:p>
            <a:endParaRPr lang="fa-IR" b="1" dirty="0"/>
          </a:p>
          <a:p>
            <a:r>
              <a:rPr lang="en-US" dirty="0"/>
              <a:t>To turn this vision into reality, we are looking for the right partners and investment to build the foundation of GINKOVA.</a:t>
            </a:r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6212E74D-78BC-384D-91DA-C915408F91ED}"/>
              </a:ext>
            </a:extLst>
          </p:cNvPr>
          <p:cNvSpPr/>
          <p:nvPr/>
        </p:nvSpPr>
        <p:spPr>
          <a:xfrm>
            <a:off x="241539" y="109268"/>
            <a:ext cx="2628182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11</a:t>
            </a:r>
          </a:p>
          <a:p>
            <a:pPr algn="ctr"/>
            <a:r>
              <a:rPr lang="en-US" b="1" dirty="0"/>
              <a:t>Vision &amp; Growth Roadmap</a:t>
            </a:r>
          </a:p>
        </p:txBody>
      </p:sp>
    </p:spTree>
    <p:extLst>
      <p:ext uri="{BB962C8B-B14F-4D97-AF65-F5344CB8AC3E}">
        <p14:creationId xmlns:p14="http://schemas.microsoft.com/office/powerpoint/2010/main" val="10286457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7AEB-636A-1923-95B2-961D14100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7ED91B5-928F-8D14-B20A-AC47DB7E9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314496"/>
          </a:xfrm>
        </p:spPr>
        <p:txBody>
          <a:bodyPr>
            <a:normAutofit fontScale="850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Our vision goes beyond delivering healthy meals.</a:t>
            </a:r>
          </a:p>
          <a:p>
            <a:pPr algn="l"/>
            <a:r>
              <a:rPr lang="en-US" dirty="0"/>
              <a:t>We see food as the daily connection point between people and their health.</a:t>
            </a:r>
          </a:p>
          <a:p>
            <a:pPr algn="l"/>
            <a:r>
              <a:rPr lang="en-US" dirty="0"/>
              <a:t>In the first phase, we build trust through high-quality personalized meals and transparent nutrition information.</a:t>
            </a:r>
          </a:p>
          <a:p>
            <a:pPr algn="l"/>
            <a:r>
              <a:rPr lang="en-US" dirty="0"/>
              <a:t>In the second phase, we use collected data and artificial intelligence to create smarter recommendations and personalized nutrition journeys.</a:t>
            </a:r>
          </a:p>
          <a:p>
            <a:pPr algn="l"/>
            <a:r>
              <a:rPr lang="en-US" dirty="0"/>
              <a:t>In the long term, GINKOVA becomes a personal health ecosystem — a trusted companion that helps individuals and families make better health decisions every day.</a:t>
            </a:r>
          </a:p>
          <a:p>
            <a:pPr algn="l"/>
            <a:r>
              <a:rPr lang="en-US" dirty="0"/>
              <a:t>Food is our entry point.</a:t>
            </a:r>
            <a:br>
              <a:rPr lang="en-US" dirty="0"/>
            </a:br>
            <a:r>
              <a:rPr lang="en-US" dirty="0"/>
              <a:t>Personal health intelligence is our future.</a:t>
            </a:r>
          </a:p>
          <a:p>
            <a:pPr algn="r" rtl="1"/>
            <a:endParaRPr lang="en-US" b="1" dirty="0"/>
          </a:p>
          <a:p>
            <a:pPr algn="r" rtl="1"/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فراتر</a:t>
            </a:r>
            <a:r>
              <a:rPr lang="en-US" dirty="0"/>
              <a:t>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ارسال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سالم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عنوان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ارتباط</a:t>
            </a:r>
            <a:r>
              <a:rPr lang="en-US" dirty="0"/>
              <a:t> </a:t>
            </a:r>
            <a:r>
              <a:rPr lang="en-US" dirty="0" err="1"/>
              <a:t>روزانه</a:t>
            </a:r>
            <a:r>
              <a:rPr lang="en-US" dirty="0"/>
              <a:t> </a:t>
            </a:r>
            <a:r>
              <a:rPr lang="en-US" dirty="0" err="1"/>
              <a:t>بین</a:t>
            </a:r>
            <a:r>
              <a:rPr lang="en-US" dirty="0"/>
              <a:t> </a:t>
            </a:r>
            <a:r>
              <a:rPr lang="en-US" dirty="0" err="1"/>
              <a:t>انسان</a:t>
            </a:r>
            <a:r>
              <a:rPr lang="en-US" dirty="0"/>
              <a:t> و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او</a:t>
            </a:r>
            <a:r>
              <a:rPr lang="en-US" dirty="0"/>
              <a:t> </a:t>
            </a:r>
            <a:r>
              <a:rPr lang="en-US" dirty="0" err="1"/>
              <a:t>می‌بینیم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اول</a:t>
            </a:r>
            <a:r>
              <a:rPr lang="en-US" dirty="0"/>
              <a:t>،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ارائه</a:t>
            </a:r>
            <a:r>
              <a:rPr lang="en-US" dirty="0"/>
              <a:t> </a:t>
            </a:r>
            <a:r>
              <a:rPr lang="en-US" dirty="0" err="1"/>
              <a:t>غذای</a:t>
            </a:r>
            <a:r>
              <a:rPr lang="en-US" dirty="0"/>
              <a:t> </a:t>
            </a:r>
            <a:r>
              <a:rPr lang="en-US" dirty="0" err="1"/>
              <a:t>باکیفیت</a:t>
            </a:r>
            <a:r>
              <a:rPr lang="en-US" dirty="0"/>
              <a:t>، </a:t>
            </a:r>
            <a:r>
              <a:rPr lang="en-US" dirty="0" err="1"/>
              <a:t>اطلاعات</a:t>
            </a:r>
            <a:r>
              <a:rPr lang="en-US" dirty="0"/>
              <a:t> </a:t>
            </a:r>
            <a:r>
              <a:rPr lang="en-US" dirty="0" err="1"/>
              <a:t>شفاف</a:t>
            </a:r>
            <a:r>
              <a:rPr lang="en-US" dirty="0"/>
              <a:t> </a:t>
            </a:r>
            <a:r>
              <a:rPr lang="en-US" dirty="0" err="1"/>
              <a:t>تغذیه‌ای</a:t>
            </a:r>
            <a:r>
              <a:rPr lang="en-US" dirty="0"/>
              <a:t> و </a:t>
            </a:r>
            <a:r>
              <a:rPr lang="en-US" dirty="0" err="1"/>
              <a:t>تجربه</a:t>
            </a:r>
            <a:r>
              <a:rPr lang="en-US" dirty="0"/>
              <a:t>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،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مرحله</a:t>
            </a:r>
            <a:r>
              <a:rPr lang="en-US" dirty="0"/>
              <a:t> </a:t>
            </a:r>
            <a:r>
              <a:rPr lang="en-US" dirty="0" err="1"/>
              <a:t>دوم</a:t>
            </a:r>
            <a:r>
              <a:rPr lang="en-US" dirty="0"/>
              <a:t>، </a:t>
            </a:r>
            <a:r>
              <a:rPr lang="en-US" dirty="0" err="1"/>
              <a:t>از</a:t>
            </a:r>
            <a:r>
              <a:rPr lang="en-US" dirty="0"/>
              <a:t> </a:t>
            </a:r>
            <a:r>
              <a:rPr lang="en-US" dirty="0" err="1"/>
              <a:t>داده‌های</a:t>
            </a:r>
            <a:r>
              <a:rPr lang="en-US" dirty="0"/>
              <a:t> </a:t>
            </a:r>
            <a:r>
              <a:rPr lang="en-US" dirty="0" err="1"/>
              <a:t>جمع‌آوری‌شده</a:t>
            </a:r>
            <a:r>
              <a:rPr lang="en-US" dirty="0"/>
              <a:t> و </a:t>
            </a:r>
            <a:r>
              <a:rPr lang="en-US" dirty="0" err="1"/>
              <a:t>هوش</a:t>
            </a:r>
            <a:r>
              <a:rPr lang="en-US" dirty="0"/>
              <a:t> </a:t>
            </a:r>
            <a:r>
              <a:rPr lang="en-US" dirty="0" err="1"/>
              <a:t>مصنوعی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پیشنهادهای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مسیرهای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استفاده</a:t>
            </a:r>
            <a:r>
              <a:rPr lang="en-US" dirty="0"/>
              <a:t> </a:t>
            </a:r>
            <a:r>
              <a:rPr lang="en-US" dirty="0" err="1"/>
              <a:t>می‌کنیم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بلندمدت</a:t>
            </a:r>
            <a:r>
              <a:rPr lang="en-US" dirty="0"/>
              <a:t>، GINKOVA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؛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همراه</a:t>
            </a:r>
            <a:r>
              <a:rPr lang="en-US" dirty="0"/>
              <a:t> </a:t>
            </a:r>
            <a:r>
              <a:rPr lang="en-US" dirty="0" err="1"/>
              <a:t>قابل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افراد</a:t>
            </a:r>
            <a:r>
              <a:rPr lang="en-US" dirty="0"/>
              <a:t> و </a:t>
            </a:r>
            <a:r>
              <a:rPr lang="en-US" dirty="0" err="1"/>
              <a:t>خانواده‌ها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می‌کند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بهتری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خود</a:t>
            </a:r>
            <a:r>
              <a:rPr lang="en-US" dirty="0"/>
              <a:t> </a:t>
            </a:r>
            <a:r>
              <a:rPr lang="en-US" dirty="0" err="1"/>
              <a:t>بگیرند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نقطه</a:t>
            </a:r>
            <a:r>
              <a:rPr lang="en-US" dirty="0"/>
              <a:t> </a:t>
            </a:r>
            <a:r>
              <a:rPr lang="en-US" dirty="0" err="1"/>
              <a:t>ورود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 err="1"/>
              <a:t>هوشمندی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شخصی</a:t>
            </a:r>
            <a:r>
              <a:rPr lang="en-US" dirty="0"/>
              <a:t>،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ماست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841213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138DA-E83A-EF75-CD2E-B3A4A28AB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074DEC9-153F-BF66-E655-5A654925A6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Slide Content (English)</a:t>
            </a:r>
          </a:p>
          <a:p>
            <a:r>
              <a:rPr lang="en-US" b="1" dirty="0"/>
              <a:t>Building the Future of Personalized Health</a:t>
            </a:r>
          </a:p>
          <a:p>
            <a:r>
              <a:rPr lang="en-US" b="1" dirty="0"/>
              <a:t>We are looking for strategic partners and investment to launch GINKOVA's first phase.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Investment will help us:</a:t>
            </a:r>
          </a:p>
          <a:p>
            <a:r>
              <a:rPr lang="en-US" dirty="0"/>
              <a:t>🥗 Build the first personalized nutrition platform</a:t>
            </a:r>
          </a:p>
          <a:p>
            <a:r>
              <a:rPr lang="en-US" dirty="0"/>
              <a:t>👨‍🍳 Establish healthy meal operations</a:t>
            </a:r>
          </a:p>
          <a:p>
            <a:r>
              <a:rPr lang="en-US" dirty="0"/>
              <a:t>🧠 Develop intelligent recommendation systems</a:t>
            </a:r>
          </a:p>
          <a:p>
            <a:r>
              <a:rPr lang="en-US" dirty="0"/>
              <a:t>🤝 Build partnerships with nutrition and healthcare professionals</a:t>
            </a:r>
          </a:p>
          <a:p>
            <a:r>
              <a:rPr lang="en-US" dirty="0"/>
              <a:t>📈 Validate the market and scale the business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Food is our starting point.</a:t>
            </a:r>
          </a:p>
          <a:p>
            <a:r>
              <a:rPr lang="en-US" b="1" dirty="0"/>
              <a:t>Better health decisions are our mission.</a:t>
            </a:r>
          </a:p>
          <a:p>
            <a:endParaRPr lang="en-US" b="1" dirty="0"/>
          </a:p>
        </p:txBody>
      </p:sp>
      <p:sp>
        <p:nvSpPr>
          <p:cNvPr id="4" name="Smiley Face 3">
            <a:extLst>
              <a:ext uri="{FF2B5EF4-FFF2-40B4-BE49-F238E27FC236}">
                <a16:creationId xmlns:a16="http://schemas.microsoft.com/office/drawing/2014/main" id="{B41D5D75-271A-E443-67C8-AB9FF2B46C69}"/>
              </a:ext>
            </a:extLst>
          </p:cNvPr>
          <p:cNvSpPr/>
          <p:nvPr/>
        </p:nvSpPr>
        <p:spPr>
          <a:xfrm>
            <a:off x="241539" y="109268"/>
            <a:ext cx="2651186" cy="1104181"/>
          </a:xfrm>
          <a:prstGeom prst="smileyFac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Part </a:t>
            </a:r>
            <a:r>
              <a:rPr lang="fa-IR" b="1" dirty="0"/>
              <a:t>12</a:t>
            </a:r>
          </a:p>
          <a:p>
            <a:pPr algn="ctr"/>
            <a:r>
              <a:rPr lang="en-US" b="1" dirty="0"/>
              <a:t>Investment Ask &amp; Closing</a:t>
            </a:r>
          </a:p>
        </p:txBody>
      </p:sp>
    </p:spTree>
    <p:extLst>
      <p:ext uri="{BB962C8B-B14F-4D97-AF65-F5344CB8AC3E}">
        <p14:creationId xmlns:p14="http://schemas.microsoft.com/office/powerpoint/2010/main" val="8836512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04989-C0F0-2522-C537-345CBBC4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2893643-DEA1-FD9F-FA77-CA9A28EF6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endParaRPr lang="fa-IR" dirty="0"/>
          </a:p>
          <a:p>
            <a:r>
              <a:rPr lang="en-US"/>
              <a:t>Finally:</a:t>
            </a:r>
            <a:endParaRPr lang="fa-IR" dirty="0"/>
          </a:p>
          <a:p>
            <a:r>
              <a:rPr lang="en-US" dirty="0"/>
              <a:t>"Every day, billions of people make health decisions through food. GINKOVA helps them make better ones."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797431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F979F-C2A5-4A29-8D56-CD3883363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237ABF-E37F-14C3-22BA-599A4E6F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 fontScale="70000" lnSpcReduction="20000"/>
          </a:bodyPr>
          <a:lstStyle/>
          <a:p>
            <a:pPr rtl="1"/>
            <a:r>
              <a:rPr lang="fa-IR" dirty="0">
                <a:solidFill>
                  <a:srgbClr val="FF0000"/>
                </a:solidFill>
              </a:rPr>
              <a:t>توضیحات من : </a:t>
            </a:r>
            <a:r>
              <a:rPr lang="en-US" dirty="0" err="1">
                <a:solidFill>
                  <a:srgbClr val="FF0000"/>
                </a:solidFill>
              </a:rPr>
              <a:t>این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بخش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روی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اسلاید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نمایش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داده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نمی‌شود</a:t>
            </a:r>
            <a:r>
              <a:rPr lang="en-US" dirty="0">
                <a:solidFill>
                  <a:srgbClr val="FF0000"/>
                </a:solidFill>
              </a:rPr>
              <a:t> و </a:t>
            </a:r>
            <a:r>
              <a:rPr lang="en-US" dirty="0" err="1">
                <a:solidFill>
                  <a:srgbClr val="FF0000"/>
                </a:solidFill>
              </a:rPr>
              <a:t>فقط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هنگام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ارائه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استفاده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می‌شود</a:t>
            </a:r>
            <a:r>
              <a:rPr lang="en-US" dirty="0">
                <a:solidFill>
                  <a:srgbClr val="FF0000"/>
                </a:solidFill>
              </a:rPr>
              <a:t>:</a:t>
            </a:r>
            <a:endParaRPr lang="fa-IR" dirty="0">
              <a:solidFill>
                <a:srgbClr val="FF0000"/>
              </a:solidFill>
            </a:endParaRPr>
          </a:p>
          <a:p>
            <a:pPr algn="l"/>
            <a:r>
              <a:rPr lang="en-US" dirty="0"/>
              <a:t>Today, we are looking for the right partners to help us transform this vision into reality.</a:t>
            </a:r>
          </a:p>
          <a:p>
            <a:pPr algn="l"/>
            <a:r>
              <a:rPr lang="en-US" dirty="0"/>
              <a:t>Our first goal is to validate the market, build the initial product, establish operational capability, and create trust with our first customers.</a:t>
            </a:r>
          </a:p>
          <a:p>
            <a:pPr algn="l"/>
            <a:r>
              <a:rPr lang="en-US" dirty="0"/>
              <a:t>The investment will allow us to build the foundation of GINKOVA: a personalized nutrition platform that can grow into a broader health ecosystem.</a:t>
            </a:r>
          </a:p>
          <a:p>
            <a:pPr algn="l"/>
            <a:r>
              <a:rPr lang="en-US" dirty="0"/>
              <a:t>We believe the future of healthcare is not only about treating diseases.</a:t>
            </a:r>
          </a:p>
          <a:p>
            <a:pPr algn="l"/>
            <a:r>
              <a:rPr lang="en-US" dirty="0"/>
              <a:t>It is about helping people make better decisions every day.</a:t>
            </a:r>
          </a:p>
          <a:p>
            <a:pPr algn="l"/>
            <a:r>
              <a:rPr lang="en-US" dirty="0"/>
              <a:t>GINKOVA starts with food, but our mission is much bigger:</a:t>
            </a:r>
          </a:p>
          <a:p>
            <a:pPr algn="l"/>
            <a:r>
              <a:rPr lang="en-US" dirty="0"/>
              <a:t>Building a smarter, healthier future for everyone.</a:t>
            </a:r>
          </a:p>
          <a:p>
            <a:br>
              <a:rPr lang="en-US" dirty="0"/>
            </a:br>
            <a:endParaRPr lang="en-US" b="1" dirty="0"/>
          </a:p>
          <a:p>
            <a:pPr algn="r" rtl="1"/>
            <a:r>
              <a:rPr lang="en-US" dirty="0" err="1"/>
              <a:t>امروز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دنبال</a:t>
            </a:r>
            <a:r>
              <a:rPr lang="en-US" dirty="0"/>
              <a:t> </a:t>
            </a:r>
            <a:r>
              <a:rPr lang="en-US" dirty="0" err="1"/>
              <a:t>شریک</a:t>
            </a:r>
            <a:r>
              <a:rPr lang="en-US" dirty="0"/>
              <a:t> </a:t>
            </a:r>
            <a:r>
              <a:rPr lang="en-US" dirty="0" err="1"/>
              <a:t>مناسبی</a:t>
            </a:r>
            <a:r>
              <a:rPr lang="en-US" dirty="0"/>
              <a:t> </a:t>
            </a:r>
            <a:r>
              <a:rPr lang="en-US" dirty="0" err="1"/>
              <a:t>هستیم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بتواند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چشم‌انداز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واقعیت</a:t>
            </a:r>
            <a:r>
              <a:rPr lang="en-US" dirty="0"/>
              <a:t>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کند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هدف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اعتبارسنجی</a:t>
            </a:r>
            <a:r>
              <a:rPr lang="en-US" dirty="0"/>
              <a:t> </a:t>
            </a:r>
            <a:r>
              <a:rPr lang="en-US" dirty="0" err="1"/>
              <a:t>بازار</a:t>
            </a:r>
            <a:r>
              <a:rPr lang="en-US" dirty="0"/>
              <a:t>، </a:t>
            </a:r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محصول</a:t>
            </a:r>
            <a:r>
              <a:rPr lang="en-US" dirty="0"/>
              <a:t> </a:t>
            </a:r>
            <a:r>
              <a:rPr lang="en-US" dirty="0" err="1"/>
              <a:t>اولیه</a:t>
            </a:r>
            <a:r>
              <a:rPr lang="en-US" dirty="0"/>
              <a:t>، </a:t>
            </a:r>
            <a:r>
              <a:rPr lang="en-US" dirty="0" err="1"/>
              <a:t>ایجاد</a:t>
            </a:r>
            <a:r>
              <a:rPr lang="en-US" dirty="0"/>
              <a:t> </a:t>
            </a:r>
            <a:r>
              <a:rPr lang="en-US" dirty="0" err="1"/>
              <a:t>توان</a:t>
            </a:r>
            <a:r>
              <a:rPr lang="en-US" dirty="0"/>
              <a:t> </a:t>
            </a:r>
            <a:r>
              <a:rPr lang="en-US" dirty="0" err="1"/>
              <a:t>عملیاتی</a:t>
            </a:r>
            <a:r>
              <a:rPr lang="en-US" dirty="0"/>
              <a:t> و </a:t>
            </a:r>
            <a:r>
              <a:rPr lang="en-US" dirty="0" err="1"/>
              <a:t>جلب</a:t>
            </a:r>
            <a:r>
              <a:rPr lang="en-US" dirty="0"/>
              <a:t> </a:t>
            </a:r>
            <a:r>
              <a:rPr lang="en-US" dirty="0" err="1"/>
              <a:t>اعتماد</a:t>
            </a:r>
            <a:r>
              <a:rPr lang="en-US" dirty="0"/>
              <a:t> </a:t>
            </a:r>
            <a:r>
              <a:rPr lang="en-US" dirty="0" err="1"/>
              <a:t>اولین</a:t>
            </a:r>
            <a:r>
              <a:rPr lang="en-US" dirty="0"/>
              <a:t> </a:t>
            </a:r>
            <a:r>
              <a:rPr lang="en-US" dirty="0" err="1"/>
              <a:t>کاربران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این</a:t>
            </a:r>
            <a:r>
              <a:rPr lang="en-US" dirty="0"/>
              <a:t> </a:t>
            </a:r>
            <a:r>
              <a:rPr lang="en-US" dirty="0" err="1"/>
              <a:t>سرمایه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اجازه</a:t>
            </a:r>
            <a:r>
              <a:rPr lang="en-US" dirty="0"/>
              <a:t> </a:t>
            </a:r>
            <a:r>
              <a:rPr lang="en-US" dirty="0" err="1"/>
              <a:t>می‌دهد</a:t>
            </a:r>
            <a:r>
              <a:rPr lang="en-US" dirty="0"/>
              <a:t> </a:t>
            </a:r>
            <a:r>
              <a:rPr lang="en-US" dirty="0" err="1"/>
              <a:t>پایه‌های</a:t>
            </a:r>
            <a:r>
              <a:rPr lang="en-US" dirty="0"/>
              <a:t> GINKOVA </a:t>
            </a:r>
            <a:r>
              <a:rPr lang="en-US" dirty="0" err="1"/>
              <a:t>را</a:t>
            </a:r>
            <a:r>
              <a:rPr lang="en-US" dirty="0"/>
              <a:t> </a:t>
            </a:r>
            <a:r>
              <a:rPr lang="en-US" dirty="0" err="1"/>
              <a:t>بسازیم</a:t>
            </a:r>
            <a:r>
              <a:rPr lang="en-US" dirty="0"/>
              <a:t>؛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پلتفرم</a:t>
            </a:r>
            <a:r>
              <a:rPr lang="en-US" dirty="0"/>
              <a:t> </a:t>
            </a:r>
            <a:r>
              <a:rPr lang="en-US" dirty="0" err="1"/>
              <a:t>تغذیه</a:t>
            </a:r>
            <a:r>
              <a:rPr lang="en-US" dirty="0"/>
              <a:t> </a:t>
            </a:r>
            <a:r>
              <a:rPr lang="en-US" dirty="0" err="1"/>
              <a:t>شخصی‌سازی‌شده</a:t>
            </a:r>
            <a:r>
              <a:rPr lang="en-US" dirty="0"/>
              <a:t> </a:t>
            </a:r>
            <a:r>
              <a:rPr lang="en-US" dirty="0" err="1"/>
              <a:t>که</a:t>
            </a:r>
            <a:r>
              <a:rPr lang="en-US" dirty="0"/>
              <a:t> </a:t>
            </a:r>
            <a:r>
              <a:rPr lang="en-US" dirty="0" err="1"/>
              <a:t>می‌تواند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یک</a:t>
            </a:r>
            <a:r>
              <a:rPr lang="en-US" dirty="0"/>
              <a:t> </a:t>
            </a:r>
            <a:r>
              <a:rPr lang="en-US" dirty="0" err="1"/>
              <a:t>اکوسیستم</a:t>
            </a:r>
            <a:r>
              <a:rPr lang="en-US" dirty="0"/>
              <a:t> </a:t>
            </a:r>
            <a:r>
              <a:rPr lang="en-US" dirty="0" err="1"/>
              <a:t>گسترده‌تر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تبدیل</a:t>
            </a:r>
            <a:r>
              <a:rPr lang="en-US" dirty="0"/>
              <a:t> </a:t>
            </a:r>
            <a:r>
              <a:rPr lang="en-US" dirty="0" err="1"/>
              <a:t>شود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باور</a:t>
            </a:r>
            <a:r>
              <a:rPr lang="en-US" dirty="0"/>
              <a:t> </a:t>
            </a:r>
            <a:r>
              <a:rPr lang="en-US" dirty="0" err="1"/>
              <a:t>داریم</a:t>
            </a:r>
            <a:r>
              <a:rPr lang="en-US" dirty="0"/>
              <a:t> </a:t>
            </a:r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 </a:t>
            </a:r>
            <a:r>
              <a:rPr lang="en-US" dirty="0" err="1"/>
              <a:t>فقط</a:t>
            </a:r>
            <a:r>
              <a:rPr lang="en-US" dirty="0"/>
              <a:t> </a:t>
            </a:r>
            <a:r>
              <a:rPr lang="en-US" dirty="0" err="1"/>
              <a:t>درمان</a:t>
            </a:r>
            <a:r>
              <a:rPr lang="en-US" dirty="0"/>
              <a:t> </a:t>
            </a:r>
            <a:r>
              <a:rPr lang="en-US" dirty="0" err="1"/>
              <a:t>بیماری‌ها</a:t>
            </a:r>
            <a:r>
              <a:rPr lang="en-US" dirty="0"/>
              <a:t> </a:t>
            </a:r>
            <a:r>
              <a:rPr lang="en-US" dirty="0" err="1"/>
              <a:t>نیست</a:t>
            </a:r>
            <a:r>
              <a:rPr lang="en-US" dirty="0"/>
              <a:t>.</a:t>
            </a:r>
          </a:p>
          <a:p>
            <a:pPr algn="r" rtl="1"/>
            <a:r>
              <a:rPr lang="en-US" dirty="0" err="1"/>
              <a:t>آینده</a:t>
            </a:r>
            <a:r>
              <a:rPr lang="en-US" dirty="0"/>
              <a:t> </a:t>
            </a:r>
            <a:r>
              <a:rPr lang="en-US" dirty="0" err="1"/>
              <a:t>سلامت</a:t>
            </a:r>
            <a:r>
              <a:rPr lang="en-US" dirty="0"/>
              <a:t>، </a:t>
            </a:r>
            <a:r>
              <a:rPr lang="en-US" dirty="0" err="1"/>
              <a:t>کمک</a:t>
            </a:r>
            <a:r>
              <a:rPr lang="en-US" dirty="0"/>
              <a:t> </a:t>
            </a:r>
            <a:r>
              <a:rPr lang="en-US" dirty="0" err="1"/>
              <a:t>به</a:t>
            </a:r>
            <a:r>
              <a:rPr lang="en-US" dirty="0"/>
              <a:t> </a:t>
            </a:r>
            <a:r>
              <a:rPr lang="en-US" dirty="0" err="1"/>
              <a:t>انسان‌ها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گرفتن</a:t>
            </a:r>
            <a:r>
              <a:rPr lang="en-US" dirty="0"/>
              <a:t> </a:t>
            </a:r>
            <a:r>
              <a:rPr lang="en-US" dirty="0" err="1"/>
              <a:t>تصمیم‌های</a:t>
            </a:r>
            <a:r>
              <a:rPr lang="en-US" dirty="0"/>
              <a:t> </a:t>
            </a:r>
            <a:r>
              <a:rPr lang="en-US" dirty="0" err="1"/>
              <a:t>بهتر</a:t>
            </a:r>
            <a:r>
              <a:rPr lang="en-US" dirty="0"/>
              <a:t> </a:t>
            </a:r>
            <a:r>
              <a:rPr lang="en-US" dirty="0" err="1"/>
              <a:t>در</a:t>
            </a:r>
            <a:r>
              <a:rPr lang="en-US" dirty="0"/>
              <a:t> </a:t>
            </a:r>
            <a:r>
              <a:rPr lang="en-US" dirty="0" err="1"/>
              <a:t>هر</a:t>
            </a:r>
            <a:r>
              <a:rPr lang="en-US" dirty="0"/>
              <a:t> </a:t>
            </a:r>
            <a:r>
              <a:rPr lang="en-US" dirty="0" err="1"/>
              <a:t>روز</a:t>
            </a:r>
            <a:r>
              <a:rPr lang="en-US" dirty="0"/>
              <a:t> </a:t>
            </a:r>
            <a:r>
              <a:rPr lang="en-US" dirty="0" err="1"/>
              <a:t>زندگی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.</a:t>
            </a:r>
          </a:p>
          <a:p>
            <a:pPr algn="r" rtl="1"/>
            <a:r>
              <a:rPr lang="en-US" dirty="0"/>
              <a:t>GINKOVA </a:t>
            </a:r>
            <a:r>
              <a:rPr lang="en-US" dirty="0" err="1"/>
              <a:t>با</a:t>
            </a:r>
            <a:r>
              <a:rPr lang="en-US" dirty="0"/>
              <a:t> </a:t>
            </a:r>
            <a:r>
              <a:rPr lang="en-US" dirty="0" err="1"/>
              <a:t>غذا</a:t>
            </a:r>
            <a:r>
              <a:rPr lang="en-US" dirty="0"/>
              <a:t> </a:t>
            </a:r>
            <a:r>
              <a:rPr lang="en-US" dirty="0" err="1"/>
              <a:t>شروع</a:t>
            </a:r>
            <a:r>
              <a:rPr lang="en-US" dirty="0"/>
              <a:t> </a:t>
            </a:r>
            <a:r>
              <a:rPr lang="en-US" dirty="0" err="1"/>
              <a:t>می‌شود</a:t>
            </a:r>
            <a:r>
              <a:rPr lang="en-US" dirty="0"/>
              <a:t>، </a:t>
            </a:r>
            <a:r>
              <a:rPr lang="en-US" dirty="0" err="1"/>
              <a:t>اما</a:t>
            </a:r>
            <a:r>
              <a:rPr lang="en-US" dirty="0"/>
              <a:t> </a:t>
            </a:r>
            <a:r>
              <a:rPr lang="en-US" dirty="0" err="1"/>
              <a:t>مأموریت</a:t>
            </a:r>
            <a:r>
              <a:rPr lang="en-US" dirty="0"/>
              <a:t> </a:t>
            </a:r>
            <a:r>
              <a:rPr lang="en-US" dirty="0" err="1"/>
              <a:t>ما</a:t>
            </a:r>
            <a:r>
              <a:rPr lang="en-US" dirty="0"/>
              <a:t> </a:t>
            </a:r>
            <a:r>
              <a:rPr lang="en-US" dirty="0" err="1"/>
              <a:t>بسیار</a:t>
            </a:r>
            <a:r>
              <a:rPr lang="en-US" dirty="0"/>
              <a:t> </a:t>
            </a:r>
            <a:r>
              <a:rPr lang="en-US" dirty="0" err="1"/>
              <a:t>بزرگ‌تر</a:t>
            </a:r>
            <a:r>
              <a:rPr lang="en-US" dirty="0"/>
              <a:t> </a:t>
            </a:r>
            <a:r>
              <a:rPr lang="en-US" dirty="0" err="1"/>
              <a:t>است</a:t>
            </a:r>
            <a:r>
              <a:rPr lang="en-US" dirty="0"/>
              <a:t>:</a:t>
            </a:r>
          </a:p>
          <a:p>
            <a:pPr algn="r" rtl="1"/>
            <a:r>
              <a:rPr lang="en-US" dirty="0" err="1"/>
              <a:t>ساخت</a:t>
            </a:r>
            <a:r>
              <a:rPr lang="en-US" dirty="0"/>
              <a:t> </a:t>
            </a:r>
            <a:r>
              <a:rPr lang="en-US" dirty="0" err="1"/>
              <a:t>آینده‌ای</a:t>
            </a:r>
            <a:r>
              <a:rPr lang="en-US" dirty="0"/>
              <a:t> </a:t>
            </a:r>
            <a:r>
              <a:rPr lang="en-US" dirty="0" err="1"/>
              <a:t>هوشمندتر</a:t>
            </a:r>
            <a:r>
              <a:rPr lang="en-US" dirty="0"/>
              <a:t> و </a:t>
            </a:r>
            <a:r>
              <a:rPr lang="en-US" dirty="0" err="1"/>
              <a:t>سالم‌تر</a:t>
            </a:r>
            <a:r>
              <a:rPr lang="en-US" dirty="0"/>
              <a:t> </a:t>
            </a:r>
            <a:r>
              <a:rPr lang="en-US" dirty="0" err="1"/>
              <a:t>برای</a:t>
            </a:r>
            <a:r>
              <a:rPr lang="en-US" dirty="0"/>
              <a:t> </a:t>
            </a:r>
            <a:r>
              <a:rPr lang="en-US" dirty="0" err="1"/>
              <a:t>همه</a:t>
            </a:r>
            <a:r>
              <a:rPr lang="en-US" dirty="0"/>
              <a:t>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46896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01EFD-A6D1-99DF-E565-51D2FE8AE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7C17E7-6BE8-D28E-D3C7-3D9248C18B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73" y="385353"/>
            <a:ext cx="12065479" cy="6028506"/>
          </a:xfrm>
        </p:spPr>
        <p:txBody>
          <a:bodyPr>
            <a:normAutofit/>
          </a:bodyPr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r>
              <a:rPr lang="en-US" sz="4000" b="1" dirty="0"/>
              <a:t>Thank you for your watching</a:t>
            </a:r>
          </a:p>
          <a:p>
            <a:endParaRPr lang="en-US" sz="4000" b="1" dirty="0"/>
          </a:p>
          <a:p>
            <a:r>
              <a:rPr lang="en-US" sz="4000" b="1" dirty="0"/>
              <a:t>Best Regards,</a:t>
            </a:r>
          </a:p>
          <a:p>
            <a:r>
              <a:rPr lang="en-US" sz="4000" b="1" dirty="0" err="1"/>
              <a:t>SmartAISystems</a:t>
            </a:r>
            <a:endParaRPr lang="en-US" sz="4000" b="1" dirty="0"/>
          </a:p>
          <a:p>
            <a:r>
              <a:rPr lang="en-US" sz="4000" b="1" dirty="0"/>
              <a:t>Hamidreza </a:t>
            </a:r>
            <a:r>
              <a:rPr lang="en-US" sz="4000" b="1" dirty="0" err="1"/>
              <a:t>Afsharradd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44219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Calibri"/>
        <a:ea typeface=""/>
        <a:cs typeface="Vazir"/>
      </a:majorFont>
      <a:minorFont>
        <a:latin typeface="Calibri"/>
        <a:ea typeface=""/>
        <a:cs typeface="Vazi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</TotalTime>
  <Words>4407</Words>
  <Application>Microsoft Office PowerPoint</Application>
  <PresentationFormat>Widescreen</PresentationFormat>
  <Paragraphs>430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Arial</vt:lpstr>
      <vt:lpstr>Calibri</vt:lpstr>
      <vt:lpstr>Office Theme</vt:lpstr>
      <vt:lpstr>Introduction &amp;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 &amp; Product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Market &amp; Business Model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Vision &amp; Investment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Amirhossein Afsharrad</dc:creator>
  <cp:lastModifiedBy>Amirhossein Afsharrad</cp:lastModifiedBy>
  <cp:revision>114</cp:revision>
  <dcterms:created xsi:type="dcterms:W3CDTF">2026-07-04T17:25:21Z</dcterms:created>
  <dcterms:modified xsi:type="dcterms:W3CDTF">2026-07-11T20:18:08Z</dcterms:modified>
</cp:coreProperties>
</file>